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Prata"/>
      <p:regular r:id="rId201314"/>
    </p:embeddedFont>
    <p:embeddedFont>
      <p:font typeface="Raleway ExtraBold"/>
      <p:regular r:id="rId201315"/>
    </p:embeddedFont>
    <p:embeddedFont>
      <p:font typeface="Raleway Medium"/>
      <p:regular r:id="rId201316"/>
    </p:embeddedFont>
    <p:embeddedFont>
      <p:font typeface="Raleway SemiBold"/>
      <p:regular r:id="rId201317"/>
    </p:embeddedFont>
    <p:embeddedFont>
      <p:font typeface="Raleway Bold"/>
      <p:regular r:id="rId201318"/>
    </p:embeddedFont>
    <p:embeddedFont>
      <p:font typeface="Raleway Black"/>
      <p:regular r:id="rId201319"/>
    </p:embeddedFont>
    <p:embeddedFont>
      <p:font typeface="Raleway Thin"/>
      <p:regular r:id="rId201320"/>
    </p:embeddedFont>
    <p:embeddedFont>
      <p:font typeface="Raleway ExtraLight"/>
      <p:regular r:id="rId201321"/>
    </p:embeddedFont>
    <p:embeddedFont>
      <p:font typeface="Raleway Light"/>
      <p:regular r:id="rId201322"/>
    </p:embeddedFont>
    <p:embeddedFont>
      <p:font typeface="Raleway"/>
      <p:regular r:id="rId2013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5.png"/><Relationship Id="rId8" Type="http://schemas.openxmlformats.org/officeDocument/2006/relationships/image" Target="../media/image-3-6.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698947"/>
            <a:ext cx="4722763" cy="1162645"/>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Nova — Plateforme Intelligente Modulaire Embarquée dans un Casque de Réalité Assistée</a:t>
            </a:r>
            <a:endParaRPr lang="en-US" sz="2400" dirty="0"/>
          </a:p>
        </p:txBody>
      </p:sp>
      <p:sp>
        <p:nvSpPr>
          <p:cNvPr id="4" name="Text 1"/>
          <p:cNvSpPr/>
          <p:nvPr/>
        </p:nvSpPr>
        <p:spPr>
          <a:xfrm>
            <a:off x="3925119" y="3047628"/>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Travail de fin d'études présenté par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Mulongoy Lubabila Adriel</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dirigé par le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Prof. Bagula</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et codirigé par l'</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Ass. Mbale</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629989"/>
            <a:ext cx="8151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Contexte : Un Défi Mondial et des Solutions Insuffisantes</a:t>
            </a:r>
            <a:endParaRPr lang="en-US" sz="2400" dirty="0"/>
          </a:p>
        </p:txBody>
      </p:sp>
      <p:sp>
        <p:nvSpPr>
          <p:cNvPr id="3" name="Text 1"/>
          <p:cNvSpPr/>
          <p:nvPr/>
        </p:nvSpPr>
        <p:spPr>
          <a:xfrm>
            <a:off x="496119" y="1715095"/>
            <a:ext cx="2613868" cy="409352"/>
          </a:xfrm>
          <a:prstGeom prst="rect">
            <a:avLst/>
          </a:prstGeom>
          <a:noFill/>
          <a:ln/>
        </p:spPr>
        <p:txBody>
          <a:bodyPr wrap="none" lIns="0" tIns="0" rIns="0" bIns="0" rtlCol="0" anchor="t"/>
          <a:lstStyle/>
          <a:p>
            <a:pPr algn="ctr" indent="0" marL="0">
              <a:lnSpc>
                <a:spcPct val="83000"/>
              </a:lnSpc>
              <a:buNone/>
            </a:pPr>
            <a:r>
              <a:rPr lang="en-US" sz="3200" dirty="0">
                <a:solidFill>
                  <a:srgbClr val="CFCBBF"/>
                </a:solidFill>
                <a:latin typeface="Prata" pitchFamily="34" charset="0"/>
                <a:ea typeface="Prata" pitchFamily="34" charset="-122"/>
                <a:cs typeface="Prata" pitchFamily="34" charset="-120"/>
              </a:rPr>
              <a:t>2,2Md</a:t>
            </a:r>
            <a:endParaRPr lang="en-US" sz="3200" dirty="0"/>
          </a:p>
        </p:txBody>
      </p:sp>
      <p:sp>
        <p:nvSpPr>
          <p:cNvPr id="4" name="Text 2"/>
          <p:cNvSpPr/>
          <p:nvPr/>
        </p:nvSpPr>
        <p:spPr>
          <a:xfrm>
            <a:off x="1027733" y="2279452"/>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CFCBBF"/>
                </a:solidFill>
                <a:latin typeface="Prata" pitchFamily="34" charset="0"/>
                <a:ea typeface="Prata" pitchFamily="34" charset="-122"/>
                <a:cs typeface="Prata" pitchFamily="34" charset="-120"/>
              </a:rPr>
              <a:t>Déficients visuels</a:t>
            </a:r>
            <a:endParaRPr lang="en-US" sz="1200" dirty="0"/>
          </a:p>
        </p:txBody>
      </p:sp>
      <p:sp>
        <p:nvSpPr>
          <p:cNvPr id="5" name="Text 3"/>
          <p:cNvSpPr/>
          <p:nvPr/>
        </p:nvSpPr>
        <p:spPr>
          <a:xfrm>
            <a:off x="496119" y="2547714"/>
            <a:ext cx="2613868" cy="198462"/>
          </a:xfrm>
          <a:prstGeom prst="rect">
            <a:avLst/>
          </a:prstGeom>
          <a:noFill/>
          <a:ln/>
        </p:spPr>
        <p:txBody>
          <a:bodyPr wrap="none" lIns="0" tIns="0" rIns="0" bIns="0" rtlCol="0" anchor="t"/>
          <a:lstStyle/>
          <a:p>
            <a:pPr algn="ctr" indent="0" marL="0">
              <a:lnSpc>
                <a:spcPct val="133000"/>
              </a:lnSpc>
              <a:buNone/>
            </a:pPr>
            <a:r>
              <a:rPr lang="en-US" sz="950" dirty="0">
                <a:solidFill>
                  <a:srgbClr val="CFCBBF"/>
                </a:solidFill>
                <a:latin typeface="Raleway" pitchFamily="34" charset="0"/>
                <a:ea typeface="Raleway" pitchFamily="34" charset="-122"/>
                <a:cs typeface="Raleway" pitchFamily="34" charset="-120"/>
              </a:rPr>
              <a:t>Personnes concernées dans le monde (OMS)</a:t>
            </a:r>
            <a:endParaRPr lang="en-US" sz="950" dirty="0"/>
          </a:p>
        </p:txBody>
      </p:sp>
      <p:sp>
        <p:nvSpPr>
          <p:cNvPr id="6" name="Text 4"/>
          <p:cNvSpPr/>
          <p:nvPr/>
        </p:nvSpPr>
        <p:spPr>
          <a:xfrm>
            <a:off x="3264991" y="1715095"/>
            <a:ext cx="2613943" cy="409352"/>
          </a:xfrm>
          <a:prstGeom prst="rect">
            <a:avLst/>
          </a:prstGeom>
          <a:noFill/>
          <a:ln/>
        </p:spPr>
        <p:txBody>
          <a:bodyPr wrap="none" lIns="0" tIns="0" rIns="0" bIns="0" rtlCol="0" anchor="t"/>
          <a:lstStyle/>
          <a:p>
            <a:pPr algn="ctr" indent="0" marL="0">
              <a:lnSpc>
                <a:spcPct val="83000"/>
              </a:lnSpc>
              <a:buNone/>
            </a:pPr>
            <a:r>
              <a:rPr lang="en-US" sz="3200" dirty="0">
                <a:solidFill>
                  <a:srgbClr val="CFCBBF"/>
                </a:solidFill>
                <a:latin typeface="Prata" pitchFamily="34" charset="0"/>
                <a:ea typeface="Prata" pitchFamily="34" charset="-122"/>
                <a:cs typeface="Prata" pitchFamily="34" charset="-120"/>
              </a:rPr>
              <a:t>0</a:t>
            </a:r>
            <a:endParaRPr lang="en-US" sz="3200" dirty="0"/>
          </a:p>
        </p:txBody>
      </p:sp>
      <p:sp>
        <p:nvSpPr>
          <p:cNvPr id="7" name="Text 5"/>
          <p:cNvSpPr/>
          <p:nvPr/>
        </p:nvSpPr>
        <p:spPr>
          <a:xfrm>
            <a:off x="3780086" y="2279452"/>
            <a:ext cx="1583680" cy="193849"/>
          </a:xfrm>
          <a:prstGeom prst="rect">
            <a:avLst/>
          </a:prstGeom>
          <a:noFill/>
          <a:ln/>
        </p:spPr>
        <p:txBody>
          <a:bodyPr wrap="none" lIns="0" tIns="0" rIns="0" bIns="0" rtlCol="0" anchor="t"/>
          <a:lstStyle/>
          <a:p>
            <a:pPr algn="ctr" indent="0" marL="0">
              <a:lnSpc>
                <a:spcPct val="104000"/>
              </a:lnSpc>
              <a:buNone/>
            </a:pPr>
            <a:r>
              <a:rPr lang="en-US" sz="1200" dirty="0">
                <a:solidFill>
                  <a:srgbClr val="CFCBBF"/>
                </a:solidFill>
                <a:latin typeface="Prata" pitchFamily="34" charset="0"/>
                <a:ea typeface="Prata" pitchFamily="34" charset="-122"/>
                <a:cs typeface="Prata" pitchFamily="34" charset="-120"/>
              </a:rPr>
              <a:t>Obstacles en hauteur</a:t>
            </a:r>
            <a:endParaRPr lang="en-US" sz="1200" dirty="0"/>
          </a:p>
        </p:txBody>
      </p:sp>
      <p:sp>
        <p:nvSpPr>
          <p:cNvPr id="8" name="Text 6"/>
          <p:cNvSpPr/>
          <p:nvPr/>
        </p:nvSpPr>
        <p:spPr>
          <a:xfrm>
            <a:off x="3264991" y="2547714"/>
            <a:ext cx="2613943" cy="198462"/>
          </a:xfrm>
          <a:prstGeom prst="rect">
            <a:avLst/>
          </a:prstGeom>
          <a:noFill/>
          <a:ln/>
        </p:spPr>
        <p:txBody>
          <a:bodyPr wrap="none" lIns="0" tIns="0" rIns="0" bIns="0" rtlCol="0" anchor="t"/>
          <a:lstStyle/>
          <a:p>
            <a:pPr algn="ctr" indent="0" marL="0">
              <a:lnSpc>
                <a:spcPct val="133000"/>
              </a:lnSpc>
              <a:buNone/>
            </a:pPr>
            <a:r>
              <a:rPr lang="en-US" sz="950" dirty="0">
                <a:solidFill>
                  <a:srgbClr val="CFCBBF"/>
                </a:solidFill>
                <a:latin typeface="Raleway" pitchFamily="34" charset="0"/>
                <a:ea typeface="Raleway" pitchFamily="34" charset="-122"/>
                <a:cs typeface="Raleway" pitchFamily="34" charset="-120"/>
              </a:rPr>
              <a:t>Détectés par la canne blanche traditionnelle</a:t>
            </a:r>
            <a:endParaRPr lang="en-US" sz="950" dirty="0"/>
          </a:p>
        </p:txBody>
      </p:sp>
      <p:sp>
        <p:nvSpPr>
          <p:cNvPr id="9" name="Text 7"/>
          <p:cNvSpPr/>
          <p:nvPr/>
        </p:nvSpPr>
        <p:spPr>
          <a:xfrm>
            <a:off x="6033939" y="1715095"/>
            <a:ext cx="2613943" cy="409352"/>
          </a:xfrm>
          <a:prstGeom prst="rect">
            <a:avLst/>
          </a:prstGeom>
          <a:noFill/>
          <a:ln/>
        </p:spPr>
        <p:txBody>
          <a:bodyPr wrap="none" lIns="0" tIns="0" rIns="0" bIns="0" rtlCol="0" anchor="t"/>
          <a:lstStyle/>
          <a:p>
            <a:pPr algn="ctr" indent="0" marL="0">
              <a:lnSpc>
                <a:spcPct val="83000"/>
              </a:lnSpc>
              <a:buNone/>
            </a:pPr>
            <a:r>
              <a:rPr lang="en-US" sz="3200" dirty="0">
                <a:solidFill>
                  <a:srgbClr val="CFCBBF"/>
                </a:solidFill>
                <a:latin typeface="Prata" pitchFamily="34" charset="0"/>
                <a:ea typeface="Prata" pitchFamily="34" charset="-122"/>
                <a:cs typeface="Prata" pitchFamily="34" charset="-120"/>
              </a:rPr>
              <a:t>5s</a:t>
            </a:r>
            <a:endParaRPr lang="en-US" sz="3200" dirty="0"/>
          </a:p>
        </p:txBody>
      </p:sp>
      <p:sp>
        <p:nvSpPr>
          <p:cNvPr id="10" name="Text 8"/>
          <p:cNvSpPr/>
          <p:nvPr/>
        </p:nvSpPr>
        <p:spPr>
          <a:xfrm>
            <a:off x="6565627" y="2279452"/>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CFCBBF"/>
                </a:solidFill>
                <a:latin typeface="Prata" pitchFamily="34" charset="0"/>
                <a:ea typeface="Prata" pitchFamily="34" charset="-122"/>
                <a:cs typeface="Prata" pitchFamily="34" charset="-120"/>
              </a:rPr>
              <a:t>Latence cloud</a:t>
            </a:r>
            <a:endParaRPr lang="en-US" sz="1200" dirty="0"/>
          </a:p>
        </p:txBody>
      </p:sp>
      <p:sp>
        <p:nvSpPr>
          <p:cNvPr id="11" name="Text 9"/>
          <p:cNvSpPr/>
          <p:nvPr/>
        </p:nvSpPr>
        <p:spPr>
          <a:xfrm>
            <a:off x="6033939" y="2547714"/>
            <a:ext cx="2613943" cy="198462"/>
          </a:xfrm>
          <a:prstGeom prst="rect">
            <a:avLst/>
          </a:prstGeom>
          <a:noFill/>
          <a:ln/>
        </p:spPr>
        <p:txBody>
          <a:bodyPr wrap="none" lIns="0" tIns="0" rIns="0" bIns="0" rtlCol="0" anchor="t"/>
          <a:lstStyle/>
          <a:p>
            <a:pPr algn="ctr" indent="0" marL="0">
              <a:lnSpc>
                <a:spcPct val="133000"/>
              </a:lnSpc>
              <a:buNone/>
            </a:pPr>
            <a:r>
              <a:rPr lang="en-US" sz="950" dirty="0">
                <a:solidFill>
                  <a:srgbClr val="CFCBBF"/>
                </a:solidFill>
                <a:latin typeface="Raleway" pitchFamily="34" charset="0"/>
                <a:ea typeface="Raleway" pitchFamily="34" charset="-122"/>
                <a:cs typeface="Raleway" pitchFamily="34" charset="-120"/>
              </a:rPr>
              <a:t>Délai des solutions technologiques actuelles</a:t>
            </a:r>
            <a:endParaRPr lang="en-US" sz="950" dirty="0"/>
          </a:p>
        </p:txBody>
      </p:sp>
      <p:sp>
        <p:nvSpPr>
          <p:cNvPr id="12" name="Text 10"/>
          <p:cNvSpPr/>
          <p:nvPr/>
        </p:nvSpPr>
        <p:spPr>
          <a:xfrm>
            <a:off x="496119" y="2885703"/>
            <a:ext cx="8151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La canne blanche, outil de référence depuis des décennies, présente des limites structurelles : elle ne détecte pas les obstacles en hauteur et n'offre aucune sémantique de l'environnement. Des solutions technologiques existent — reconnaissance d'images, assistants vocaux, navigation GPS — mais elles sont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rigides</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 monolithiques, mono-tâche, et dépendantes du cloud. Cette dépendance constitue une vulnérabilité critique pour des utilisateurs en situation de mobilité réelle.</a:t>
            </a:r>
            <a:endParaRPr lang="en-US" sz="950" dirty="0"/>
          </a:p>
        </p:txBody>
      </p:sp>
      <p:sp>
        <p:nvSpPr>
          <p:cNvPr id="13" name="Shape 11"/>
          <p:cNvSpPr/>
          <p:nvPr/>
        </p:nvSpPr>
        <p:spPr>
          <a:xfrm>
            <a:off x="496119" y="3819079"/>
            <a:ext cx="8151763" cy="694432"/>
          </a:xfrm>
          <a:prstGeom prst="roundRect">
            <a:avLst>
              <a:gd name="adj" fmla="val 2679"/>
            </a:avLst>
          </a:prstGeom>
          <a:solidFill>
            <a:srgbClr val="71660F"/>
          </a:solidFill>
          <a:ln/>
        </p:spPr>
      </p:sp>
      <p:pic>
        <p:nvPicPr>
          <p:cNvPr id="14" name="Image 0" descr="preencoded.png">    </p:cNvPr>
          <p:cNvPicPr>
            <a:picLocks noChangeAspect="1"/>
          </p:cNvPicPr>
          <p:nvPr/>
        </p:nvPicPr>
        <p:blipFill>
          <a:blip r:embed="rId1"/>
          <a:stretch>
            <a:fillRect/>
          </a:stretch>
        </p:blipFill>
        <p:spPr>
          <a:xfrm>
            <a:off x="620092" y="3998863"/>
            <a:ext cx="155004" cy="123974"/>
          </a:xfrm>
          <a:prstGeom prst="rect">
            <a:avLst/>
          </a:prstGeom>
        </p:spPr>
      </p:pic>
      <p:sp>
        <p:nvSpPr>
          <p:cNvPr id="15" name="Text 12"/>
          <p:cNvSpPr/>
          <p:nvPr/>
        </p:nvSpPr>
        <p:spPr>
          <a:xfrm>
            <a:off x="899071" y="3974009"/>
            <a:ext cx="7624837" cy="396925"/>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FFFFFF"/>
                </a:solidFill>
                <a:latin typeface="Raleway Bold" pitchFamily="34" charset="0"/>
                <a:ea typeface="Raleway Bold" pitchFamily="34" charset="-122"/>
                <a:cs typeface="Raleway Bold" pitchFamily="34" charset="-120"/>
              </a:rPr>
              <a:t>Question scientifique centrale :</a:t>
            </a:r>
            <a:pPr algn="l" indent="0" marL="0">
              <a:lnSpc>
                <a:spcPct val="133000"/>
              </a:lnSpc>
              <a:buNone/>
            </a:pPr>
            <a:r>
              <a:rPr lang="en-US" sz="950" dirty="0">
                <a:solidFill>
                  <a:srgbClr val="FFFFFF"/>
                </a:solidFill>
                <a:latin typeface="Raleway" pitchFamily="34" charset="0"/>
                <a:ea typeface="Raleway" pitchFamily="34" charset="-122"/>
                <a:cs typeface="Raleway" pitchFamily="34" charset="-120"/>
              </a:rPr>
              <a:t> Comment concevoir une plateforme embarquée, modulaire et hors ligne, capable d'offrir une assistance sémantique et sécuritaire aux personnes malvoyantes, tout en restant reconfigurable à faible coût ?</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88962"/>
            <a:ext cx="5035972" cy="387548"/>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Quatre Tensions Structurantes</a:t>
            </a:r>
            <a:endParaRPr lang="en-US" sz="2400" dirty="0"/>
          </a:p>
        </p:txBody>
      </p:sp>
      <p:sp>
        <p:nvSpPr>
          <p:cNvPr id="3" name="Text 1"/>
          <p:cNvSpPr/>
          <p:nvPr/>
        </p:nvSpPr>
        <p:spPr>
          <a:xfrm>
            <a:off x="496119" y="1024533"/>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Ces quatre tensions structurent l'ensemble du mémoire et seront retrouvées dans l'analyse des résultats. Elles définissent l'espace de conception dans lequel Nova évolue.</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560984"/>
            <a:ext cx="4013895" cy="1537097"/>
          </a:xfrm>
          <a:prstGeom prst="rect">
            <a:avLst/>
          </a:prstGeom>
        </p:spPr>
      </p:pic>
      <p:sp>
        <p:nvSpPr>
          <p:cNvPr id="5" name="Text 2"/>
          <p:cNvSpPr/>
          <p:nvPr/>
        </p:nvSpPr>
        <p:spPr>
          <a:xfrm>
            <a:off x="691530" y="1699245"/>
            <a:ext cx="2997622"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Tension 1 — Modularité vs. Performance</a:t>
            </a:r>
            <a:endParaRPr lang="en-US" sz="1200" dirty="0"/>
          </a:p>
        </p:txBody>
      </p:sp>
      <p:sp>
        <p:nvSpPr>
          <p:cNvPr id="6" name="Text 3"/>
          <p:cNvSpPr/>
          <p:nvPr/>
        </p:nvSpPr>
        <p:spPr>
          <a:xfrm>
            <a:off x="691530" y="1967508"/>
            <a:ext cx="368022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Un système modulaire introduit une surcharge de communication inter-modules, tandis qu'un système monolithique maximise les performances au prix de la rigidité et de l'impossibilité d'ajouter des fonctionnalités sans recompilation complète.</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1560984"/>
            <a:ext cx="4013895" cy="1537097"/>
          </a:xfrm>
          <a:prstGeom prst="rect">
            <a:avLst/>
          </a:prstGeom>
        </p:spPr>
      </p:pic>
      <p:sp>
        <p:nvSpPr>
          <p:cNvPr id="8" name="Text 4"/>
          <p:cNvSpPr/>
          <p:nvPr/>
        </p:nvSpPr>
        <p:spPr>
          <a:xfrm>
            <a:off x="4829398" y="1699245"/>
            <a:ext cx="3573512"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Tension 2 — Hors ligne vs. Richesse sémantique</a:t>
            </a:r>
            <a:endParaRPr lang="en-US" sz="1200" dirty="0"/>
          </a:p>
        </p:txBody>
      </p:sp>
      <p:sp>
        <p:nvSpPr>
          <p:cNvPr id="9" name="Text 5"/>
          <p:cNvSpPr/>
          <p:nvPr/>
        </p:nvSpPr>
        <p:spPr>
          <a:xfrm>
            <a:off x="4829398" y="1967508"/>
            <a:ext cx="368022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Les modèles embarqués fonctionnent sans réseau mais offrent une sémantique limitée ; les LLM distants sont riches sémantiquement mais introduisent une latence de 2 à 5 secondes et une dépendance critique au réseau.</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222054"/>
            <a:ext cx="4013895" cy="1532483"/>
          </a:xfrm>
          <a:prstGeom prst="rect">
            <a:avLst/>
          </a:prstGeom>
        </p:spPr>
      </p:pic>
      <p:sp>
        <p:nvSpPr>
          <p:cNvPr id="11" name="Text 6"/>
          <p:cNvSpPr/>
          <p:nvPr/>
        </p:nvSpPr>
        <p:spPr>
          <a:xfrm>
            <a:off x="691530" y="3360316"/>
            <a:ext cx="368022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Tension 3 — Sécurité temps réel vs. Calcul intensif</a:t>
            </a:r>
            <a:endParaRPr lang="en-US" sz="1200" dirty="0"/>
          </a:p>
        </p:txBody>
      </p:sp>
      <p:sp>
        <p:nvSpPr>
          <p:cNvPr id="12" name="Text 7"/>
          <p:cNvSpPr/>
          <p:nvPr/>
        </p:nvSpPr>
        <p:spPr>
          <a:xfrm>
            <a:off x="691530" y="3822427"/>
            <a:ext cx="368022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La détection d'obstacles exige une réactivité garantie en temps réel, incompatible avec la saturation du CPU principal lors de l'exécution simultanée de modules de vision par ordinateur et de reconnaissance gestuelle.</a:t>
            </a:r>
            <a:endParaRPr lang="en-US" sz="9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3987" y="3222054"/>
            <a:ext cx="4013895" cy="1532483"/>
          </a:xfrm>
          <a:prstGeom prst="rect">
            <a:avLst/>
          </a:prstGeom>
        </p:spPr>
      </p:pic>
      <p:sp>
        <p:nvSpPr>
          <p:cNvPr id="14" name="Text 8"/>
          <p:cNvSpPr/>
          <p:nvPr/>
        </p:nvSpPr>
        <p:spPr>
          <a:xfrm>
            <a:off x="4829398" y="3360316"/>
            <a:ext cx="368022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Tension 4 — Coût accessible vs. Capacités matérielles</a:t>
            </a:r>
            <a:endParaRPr lang="en-US" sz="1200" dirty="0"/>
          </a:p>
        </p:txBody>
      </p:sp>
      <p:sp>
        <p:nvSpPr>
          <p:cNvPr id="15" name="Text 9"/>
          <p:cNvSpPr/>
          <p:nvPr/>
        </p:nvSpPr>
        <p:spPr>
          <a:xfrm>
            <a:off x="4829398" y="3822427"/>
            <a:ext cx="368022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Un dispositif destiné à une adoption large doit rester à faible coût, ce qui contraint sévèrement les ressources de calcul disponibles et impose des arbitrages dans les choix algorithmiques et architecturaux.</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202010"/>
            <a:ext cx="6698605" cy="387548"/>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État de l'Art : La Lacune que Nova Comble</a:t>
            </a:r>
            <a:endParaRPr lang="en-US" sz="2400" dirty="0"/>
          </a:p>
        </p:txBody>
      </p:sp>
      <p:sp>
        <p:nvSpPr>
          <p:cNvPr id="3" name="Shape 1"/>
          <p:cNvSpPr/>
          <p:nvPr/>
        </p:nvSpPr>
        <p:spPr>
          <a:xfrm>
            <a:off x="496119" y="1837581"/>
            <a:ext cx="8151763" cy="2103909"/>
          </a:xfrm>
          <a:prstGeom prst="roundRect">
            <a:avLst>
              <a:gd name="adj" fmla="val 884"/>
            </a:avLst>
          </a:prstGeom>
          <a:solidFill>
            <a:srgbClr val="3A3B3C"/>
          </a:solidFill>
          <a:ln/>
        </p:spPr>
      </p:sp>
      <p:sp>
        <p:nvSpPr>
          <p:cNvPr id="4" name="Shape 2"/>
          <p:cNvSpPr/>
          <p:nvPr/>
        </p:nvSpPr>
        <p:spPr>
          <a:xfrm>
            <a:off x="496119" y="1837581"/>
            <a:ext cx="2717229" cy="2103909"/>
          </a:xfrm>
          <a:prstGeom prst="rect">
            <a:avLst/>
          </a:prstGeom>
          <a:solidFill>
            <a:srgbClr val="3A3B3C"/>
          </a:solidFill>
          <a:ln/>
        </p:spPr>
      </p:sp>
      <p:sp>
        <p:nvSpPr>
          <p:cNvPr id="5" name="Text 3"/>
          <p:cNvSpPr/>
          <p:nvPr/>
        </p:nvSpPr>
        <p:spPr>
          <a:xfrm>
            <a:off x="620092" y="1961555"/>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YOLO Embarqué</a:t>
            </a:r>
            <a:endParaRPr lang="en-US" sz="1200" dirty="0"/>
          </a:p>
        </p:txBody>
      </p:sp>
      <p:sp>
        <p:nvSpPr>
          <p:cNvPr id="6" name="Text 4"/>
          <p:cNvSpPr/>
          <p:nvPr/>
        </p:nvSpPr>
        <p:spPr>
          <a:xfrm>
            <a:off x="620092" y="2229817"/>
            <a:ext cx="2469282"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Bonnes performances hors ligne, détection d'objets en temps réel sur matériel contraint. Cependant, architecture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monolithique</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 toute modification nécessite une recompilation complète. Latence E2E mesurée à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583 ms</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inadaptée à une assistance temps réel fine. Aucune modularité ni reconfigurabilité à chaud.</a:t>
            </a:r>
            <a:endParaRPr lang="en-US" sz="950" dirty="0"/>
          </a:p>
        </p:txBody>
      </p:sp>
      <p:sp>
        <p:nvSpPr>
          <p:cNvPr id="7" name="Shape 5"/>
          <p:cNvSpPr/>
          <p:nvPr/>
        </p:nvSpPr>
        <p:spPr>
          <a:xfrm>
            <a:off x="3213348" y="1837581"/>
            <a:ext cx="2717229" cy="2103909"/>
          </a:xfrm>
          <a:prstGeom prst="rect">
            <a:avLst/>
          </a:prstGeom>
          <a:solidFill>
            <a:srgbClr val="3A3B3C"/>
          </a:solidFill>
          <a:ln/>
        </p:spPr>
      </p:sp>
      <p:sp>
        <p:nvSpPr>
          <p:cNvPr id="8" name="Shape 6"/>
          <p:cNvSpPr/>
          <p:nvPr/>
        </p:nvSpPr>
        <p:spPr>
          <a:xfrm>
            <a:off x="3213348" y="1837581"/>
            <a:ext cx="14288" cy="2103909"/>
          </a:xfrm>
          <a:prstGeom prst="roundRect">
            <a:avLst>
              <a:gd name="adj" fmla="val 130228"/>
            </a:avLst>
          </a:prstGeom>
          <a:solidFill>
            <a:srgbClr val="535455"/>
          </a:solidFill>
          <a:ln/>
        </p:spPr>
      </p:sp>
      <p:sp>
        <p:nvSpPr>
          <p:cNvPr id="9" name="Text 7"/>
          <p:cNvSpPr/>
          <p:nvPr/>
        </p:nvSpPr>
        <p:spPr>
          <a:xfrm>
            <a:off x="3337322" y="1961555"/>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LLM Distant</a:t>
            </a:r>
            <a:endParaRPr lang="en-US" sz="1200" dirty="0"/>
          </a:p>
        </p:txBody>
      </p:sp>
      <p:sp>
        <p:nvSpPr>
          <p:cNvPr id="10" name="Text 8"/>
          <p:cNvSpPr/>
          <p:nvPr/>
        </p:nvSpPr>
        <p:spPr>
          <a:xfrm>
            <a:off x="3337322" y="2229817"/>
            <a:ext cx="2469282"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Richesse sémantique exceptionnelle, génération de descriptions contextuelles détaillées. Mais latence de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2 à 5 secondes</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selon la connectivité, et dépendance totale au réseau — une vulnérabilité inacceptable pour un dispositif d'assistance à la mobilité. Coût opérationnel élevé.</a:t>
            </a:r>
            <a:endParaRPr lang="en-US" sz="950" dirty="0"/>
          </a:p>
        </p:txBody>
      </p:sp>
      <p:sp>
        <p:nvSpPr>
          <p:cNvPr id="11" name="Shape 9"/>
          <p:cNvSpPr/>
          <p:nvPr/>
        </p:nvSpPr>
        <p:spPr>
          <a:xfrm>
            <a:off x="5930578" y="1837581"/>
            <a:ext cx="2717229" cy="2103909"/>
          </a:xfrm>
          <a:prstGeom prst="rect">
            <a:avLst/>
          </a:prstGeom>
          <a:solidFill>
            <a:srgbClr val="3A3B3C"/>
          </a:solidFill>
          <a:ln/>
        </p:spPr>
      </p:sp>
      <p:sp>
        <p:nvSpPr>
          <p:cNvPr id="12" name="Shape 10"/>
          <p:cNvSpPr/>
          <p:nvPr/>
        </p:nvSpPr>
        <p:spPr>
          <a:xfrm>
            <a:off x="5930578" y="1837581"/>
            <a:ext cx="14288" cy="2103909"/>
          </a:xfrm>
          <a:prstGeom prst="roundRect">
            <a:avLst>
              <a:gd name="adj" fmla="val 130228"/>
            </a:avLst>
          </a:prstGeom>
          <a:solidFill>
            <a:srgbClr val="535455"/>
          </a:solidFill>
          <a:ln/>
        </p:spPr>
      </p:sp>
      <p:sp>
        <p:nvSpPr>
          <p:cNvPr id="13" name="Text 11"/>
          <p:cNvSpPr/>
          <p:nvPr/>
        </p:nvSpPr>
        <p:spPr>
          <a:xfrm>
            <a:off x="6054551" y="1961555"/>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Lacune Identifiée</a:t>
            </a:r>
            <a:endParaRPr lang="en-US" sz="1200" dirty="0"/>
          </a:p>
        </p:txBody>
      </p:sp>
      <p:sp>
        <p:nvSpPr>
          <p:cNvPr id="14" name="Text 12"/>
          <p:cNvSpPr/>
          <p:nvPr/>
        </p:nvSpPr>
        <p:spPr>
          <a:xfrm>
            <a:off x="6054551" y="2229817"/>
            <a:ext cx="2469282" cy="1587698"/>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Aucun travail antérieur ne réunit simultanément</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modularité architecturale, fonctionnement hors ligne, reconfigurabilité à faible coût et sécurité temps réel garantie. C'est précisément cette lacune que Nova comble par son approche de plateforme modulaire embarquée.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606623"/>
            <a:ext cx="7113463" cy="387548"/>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Architecture Nova : Orchestration Modulaire</a:t>
            </a:r>
            <a:endParaRPr lang="en-US" sz="2400" dirty="0"/>
          </a:p>
        </p:txBody>
      </p:sp>
      <p:sp>
        <p:nvSpPr>
          <p:cNvPr id="3" name="Shape 1"/>
          <p:cNvSpPr/>
          <p:nvPr/>
        </p:nvSpPr>
        <p:spPr>
          <a:xfrm>
            <a:off x="406822" y="1180207"/>
            <a:ext cx="4103191" cy="3356670"/>
          </a:xfrm>
          <a:prstGeom prst="roundRect">
            <a:avLst>
              <a:gd name="adj" fmla="val 554"/>
            </a:avLst>
          </a:prstGeom>
          <a:solidFill>
            <a:srgbClr val="EEE27D"/>
          </a:solidFill>
          <a:ln/>
        </p:spPr>
      </p:sp>
      <p:sp>
        <p:nvSpPr>
          <p:cNvPr id="4" name="Text 2"/>
          <p:cNvSpPr/>
          <p:nvPr/>
        </p:nvSpPr>
        <p:spPr>
          <a:xfrm>
            <a:off x="530796" y="1304181"/>
            <a:ext cx="2125042"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Prata" pitchFamily="34" charset="0"/>
                <a:ea typeface="Prata" pitchFamily="34" charset="-122"/>
                <a:cs typeface="Prata" pitchFamily="34" charset="-120"/>
              </a:rPr>
              <a:t>Composants Matériels</a:t>
            </a:r>
            <a:endParaRPr lang="en-US" sz="1200" dirty="0"/>
          </a:p>
        </p:txBody>
      </p:sp>
      <p:sp>
        <p:nvSpPr>
          <p:cNvPr id="5" name="Text 3"/>
          <p:cNvSpPr/>
          <p:nvPr/>
        </p:nvSpPr>
        <p:spPr>
          <a:xfrm>
            <a:off x="530796" y="1622003"/>
            <a:ext cx="3855244" cy="1277541"/>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Pi 4B</a:t>
            </a:r>
            <a:pPr algn="l" marL="193040" indent="-193040">
              <a:lnSpc>
                <a:spcPct val="133000"/>
              </a:lnSpc>
              <a:buSzPct val="100000"/>
              <a:buChar char="•"/>
            </a:pPr>
            <a:r>
              <a:rPr lang="en-US" sz="950" dirty="0">
                <a:solidFill>
                  <a:srgbClr val="000000"/>
                </a:solidFill>
                <a:latin typeface="Raleway" pitchFamily="34" charset="0"/>
                <a:ea typeface="Raleway" pitchFamily="34" charset="-122"/>
                <a:cs typeface="Raleway" pitchFamily="34" charset="-120"/>
              </a:rPr>
              <a:t> — Orchestrateur central : serveur Flask + broker MQTT, exécute les modules de vision et de reconnaissance gestuelle</a:t>
            </a:r>
            <a:endParaRPr lang="en-US" sz="950" dirty="0"/>
          </a:p>
          <a:p>
            <a:pPr algn="l" marL="193040" indent="-193040">
              <a:lnSpc>
                <a:spcPct val="133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Arduino</a:t>
            </a:r>
            <a:pPr algn="l" marL="193040" indent="-193040">
              <a:lnSpc>
                <a:spcPct val="133000"/>
              </a:lnSpc>
              <a:buSzPct val="100000"/>
              <a:buChar char="•"/>
            </a:pPr>
            <a:r>
              <a:rPr lang="en-US" sz="950" dirty="0">
                <a:solidFill>
                  <a:srgbClr val="000000"/>
                </a:solidFill>
                <a:latin typeface="Raleway" pitchFamily="34" charset="0"/>
                <a:ea typeface="Raleway" pitchFamily="34" charset="-122"/>
                <a:cs typeface="Raleway" pitchFamily="34" charset="-120"/>
              </a:rPr>
              <a:t> — Capteurs temps réel + retour haptique : gère la sécurité de manière indépendante et garantie</a:t>
            </a:r>
            <a:endParaRPr lang="en-US" sz="950" dirty="0"/>
          </a:p>
          <a:p>
            <a:pPr algn="l" marL="193040" indent="-193040">
              <a:lnSpc>
                <a:spcPct val="133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ESP32-CAM</a:t>
            </a:r>
            <a:pPr algn="l" marL="193040" indent="-193040">
              <a:lnSpc>
                <a:spcPct val="133000"/>
              </a:lnSpc>
              <a:buSzPct val="100000"/>
              <a:buChar char="•"/>
            </a:pPr>
            <a:r>
              <a:rPr lang="en-US" sz="950" dirty="0">
                <a:solidFill>
                  <a:srgbClr val="000000"/>
                </a:solidFill>
                <a:latin typeface="Raleway" pitchFamily="34" charset="0"/>
                <a:ea typeface="Raleway" pitchFamily="34" charset="-122"/>
                <a:cs typeface="Raleway" pitchFamily="34" charset="-120"/>
              </a:rPr>
              <a:t> — Acquisition vidéo déportée : libère le Pi de la capture directe pour se concentrer sur le traitement</a:t>
            </a:r>
            <a:endParaRPr lang="en-US" sz="950" dirty="0"/>
          </a:p>
        </p:txBody>
      </p:sp>
      <p:sp>
        <p:nvSpPr>
          <p:cNvPr id="6" name="Shape 4"/>
          <p:cNvSpPr/>
          <p:nvPr/>
        </p:nvSpPr>
        <p:spPr>
          <a:xfrm>
            <a:off x="530796" y="3039070"/>
            <a:ext cx="3855244" cy="1079004"/>
          </a:xfrm>
          <a:prstGeom prst="roundRect">
            <a:avLst>
              <a:gd name="adj" fmla="val 1724"/>
            </a:avLst>
          </a:prstGeom>
          <a:solidFill>
            <a:srgbClr val="F9F5D2"/>
          </a:solidFill>
          <a:ln/>
        </p:spPr>
      </p:sp>
      <p:pic>
        <p:nvPicPr>
          <p:cNvPr id="7" name="Image 0" descr="preencoded.png">    </p:cNvPr>
          <p:cNvPicPr>
            <a:picLocks noChangeAspect="1"/>
          </p:cNvPicPr>
          <p:nvPr/>
        </p:nvPicPr>
        <p:blipFill>
          <a:blip r:embed="rId1"/>
          <a:stretch>
            <a:fillRect/>
          </a:stretch>
        </p:blipFill>
        <p:spPr>
          <a:xfrm>
            <a:off x="654769" y="3223617"/>
            <a:ext cx="155004" cy="123974"/>
          </a:xfrm>
          <a:prstGeom prst="rect">
            <a:avLst/>
          </a:prstGeom>
        </p:spPr>
      </p:pic>
      <p:sp>
        <p:nvSpPr>
          <p:cNvPr id="8" name="Text 5"/>
          <p:cNvSpPr/>
          <p:nvPr/>
        </p:nvSpPr>
        <p:spPr>
          <a:xfrm>
            <a:off x="933748" y="3181648"/>
            <a:ext cx="3328318" cy="793849"/>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Raleway Bold" pitchFamily="34" charset="0"/>
                <a:ea typeface="Raleway Bold" pitchFamily="34" charset="-122"/>
                <a:cs typeface="Raleway Bold" pitchFamily="34" charset="-120"/>
              </a:rPr>
              <a:t>Point clé de sécurité :</a:t>
            </a:r>
            <a:pPr algn="l" indent="0" marL="0">
              <a:lnSpc>
                <a:spcPct val="133000"/>
              </a:lnSpc>
              <a:buNone/>
            </a:pPr>
            <a:r>
              <a:rPr lang="en-US" sz="950" dirty="0">
                <a:solidFill>
                  <a:srgbClr val="000000"/>
                </a:solidFill>
                <a:latin typeface="Raleway" pitchFamily="34" charset="0"/>
                <a:ea typeface="Raleway" pitchFamily="34" charset="-122"/>
                <a:cs typeface="Raleway" pitchFamily="34" charset="-120"/>
              </a:rPr>
              <a:t> la détection d'obstacles est déléguée à l'Arduino — elle reste fonctionnelle même si le Pi sature. La sécurité n'est jamais compromise par la charge de calcul.</a:t>
            </a:r>
            <a:endParaRPr lang="en-US" sz="950" dirty="0"/>
          </a:p>
        </p:txBody>
      </p:sp>
      <p:sp>
        <p:nvSpPr>
          <p:cNvPr id="9" name="Text 6"/>
          <p:cNvSpPr/>
          <p:nvPr/>
        </p:nvSpPr>
        <p:spPr>
          <a:xfrm>
            <a:off x="4728046" y="1304181"/>
            <a:ext cx="2764334" cy="193849"/>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Principe des Modules Greffons</a:t>
            </a:r>
            <a:endParaRPr lang="en-US" sz="1200" dirty="0"/>
          </a:p>
        </p:txBody>
      </p:sp>
      <p:sp>
        <p:nvSpPr>
          <p:cNvPr id="10" name="Text 7"/>
          <p:cNvSpPr/>
          <p:nvPr/>
        </p:nvSpPr>
        <p:spPr>
          <a:xfrm>
            <a:off x="4728046" y="1622003"/>
            <a:ext cx="3924598" cy="280325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L'architecture logicielle de Nova repose sur un principe de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greffons</a:t>
            </a:r>
            <a:pPr algn="l" indent="0" marL="0">
              <a:lnSpc>
                <a:spcPct val="133000"/>
              </a:lnSpc>
              <a:spcAft>
                <a:spcPts val="850"/>
              </a:spcAft>
              <a:buNone/>
            </a:pPr>
            <a:r>
              <a:rPr lang="en-US" sz="950" dirty="0">
                <a:solidFill>
                  <a:srgbClr val="CFCBBF"/>
                </a:solidFill>
                <a:latin typeface="Raleway" pitchFamily="34" charset="0"/>
                <a:ea typeface="Raleway" pitchFamily="34" charset="-122"/>
                <a:cs typeface="Raleway" pitchFamily="34" charset="-120"/>
              </a:rPr>
              <a:t> : chaque fonctionnalité (détection d'obstacles, reconnaissance de texte, identification de gestes, description sémantique) est encapsulée dans un module indépendant communiquant via le bus MQTT.</a:t>
            </a:r>
            <a:endParaRPr lang="en-US" sz="950" dirty="0"/>
          </a:p>
          <a:p>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Ajouter une fonction = déposer un dossier.</a:t>
            </a:r>
            <a:pPr algn="l" indent="0" marL="0">
              <a:lnSpc>
                <a:spcPct val="133000"/>
              </a:lnSpc>
              <a:spcAft>
                <a:spcPts val="850"/>
              </a:spcAft>
              <a:buNone/>
            </a:pPr>
            <a:r>
              <a:rPr lang="en-US" sz="950" dirty="0">
                <a:solidFill>
                  <a:srgbClr val="CFCBBF"/>
                </a:solidFill>
                <a:latin typeface="Raleway" pitchFamily="34" charset="0"/>
                <a:ea typeface="Raleway" pitchFamily="34" charset="-122"/>
                <a:cs typeface="Raleway" pitchFamily="34" charset="-120"/>
              </a:rPr>
              <a:t> Zéro recompilation, zéro redéploiement du système complet. Cette approche résout directement la tension Modularité/Performance en isolant les modules critiques et en permettant leur optimisation individuelle.</a:t>
            </a:r>
            <a:endParaRPr lang="en-US" sz="950" dirty="0"/>
          </a:p>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Le broker MQTT assure une communication asynchrone, légère et fiable entre tous les composants, avec une latence médiane mesurée de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2,64 ms</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et zéro perte de paquets sur l'ensemble des campagnes de test.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580802"/>
            <a:ext cx="6514133" cy="387548"/>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Méthodologie : Design Science Research</a:t>
            </a:r>
            <a:endParaRPr lang="en-US" sz="2400" dirty="0"/>
          </a:p>
        </p:txBody>
      </p:sp>
      <p:sp>
        <p:nvSpPr>
          <p:cNvPr id="3" name="Text 1"/>
          <p:cNvSpPr/>
          <p:nvPr/>
        </p:nvSpPr>
        <p:spPr>
          <a:xfrm>
            <a:off x="496119" y="1216372"/>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Nova a été conçue et évaluée selon la méthodologie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Design Science Research</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 construire un artefact, puis mesurer rigoureusement ses propriétés. Toutes les mesures ont été réalisées sur le </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matériel cible réel</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(Pi 4B, Arduino, ESP32-CAM) — jamais sur une machine de développement plus puissante. Cette contrainte garantit l'écologie des résultats.</a:t>
            </a:r>
            <a:endParaRPr lang="en-US" sz="950" dirty="0"/>
          </a:p>
        </p:txBody>
      </p:sp>
      <p:sp>
        <p:nvSpPr>
          <p:cNvPr id="4" name="Text 2"/>
          <p:cNvSpPr/>
          <p:nvPr/>
        </p:nvSpPr>
        <p:spPr>
          <a:xfrm>
            <a:off x="496119" y="195128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CFCBBF"/>
                </a:solidFill>
                <a:latin typeface="Prata Light" pitchFamily="34" charset="0"/>
                <a:ea typeface="Prata Light" pitchFamily="34" charset="-122"/>
                <a:cs typeface="Prata Light" pitchFamily="34" charset="-120"/>
              </a:rPr>
              <a:t>01</a:t>
            </a:r>
            <a:endParaRPr lang="en-US" sz="950" dirty="0"/>
          </a:p>
        </p:txBody>
      </p:sp>
      <p:sp>
        <p:nvSpPr>
          <p:cNvPr id="5" name="Shape 3"/>
          <p:cNvSpPr/>
          <p:nvPr/>
        </p:nvSpPr>
        <p:spPr>
          <a:xfrm>
            <a:off x="496119" y="2147739"/>
            <a:ext cx="4013895" cy="14288"/>
          </a:xfrm>
          <a:prstGeom prst="rect">
            <a:avLst/>
          </a:prstGeom>
          <a:solidFill>
            <a:srgbClr val="D2AC47"/>
          </a:solidFill>
          <a:ln/>
        </p:spPr>
      </p:sp>
      <p:sp>
        <p:nvSpPr>
          <p:cNvPr id="6" name="Text 4"/>
          <p:cNvSpPr/>
          <p:nvPr/>
        </p:nvSpPr>
        <p:spPr>
          <a:xfrm>
            <a:off x="496119" y="2238301"/>
            <a:ext cx="1762423"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Conception de l'artefact</a:t>
            </a:r>
            <a:endParaRPr lang="en-US" sz="1200" dirty="0"/>
          </a:p>
        </p:txBody>
      </p:sp>
      <p:sp>
        <p:nvSpPr>
          <p:cNvPr id="7" name="Text 5"/>
          <p:cNvSpPr/>
          <p:nvPr/>
        </p:nvSpPr>
        <p:spPr>
          <a:xfrm>
            <a:off x="496119" y="2506563"/>
            <a:ext cx="4013895"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Développement itératif de la plateforme Nova intégrant les trois composants matériels et les modules logiciels (vision, gestes, haptique, sémantique).</a:t>
            </a:r>
            <a:endParaRPr lang="en-US" sz="950" dirty="0"/>
          </a:p>
        </p:txBody>
      </p:sp>
      <p:sp>
        <p:nvSpPr>
          <p:cNvPr id="8" name="Text 6"/>
          <p:cNvSpPr/>
          <p:nvPr/>
        </p:nvSpPr>
        <p:spPr>
          <a:xfrm>
            <a:off x="4633987" y="195128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CFCBBF"/>
                </a:solidFill>
                <a:latin typeface="Prata Light" pitchFamily="34" charset="0"/>
                <a:ea typeface="Prata Light" pitchFamily="34" charset="-122"/>
                <a:cs typeface="Prata Light" pitchFamily="34" charset="-120"/>
              </a:rPr>
              <a:t>02</a:t>
            </a:r>
            <a:endParaRPr lang="en-US" sz="950" dirty="0"/>
          </a:p>
        </p:txBody>
      </p:sp>
      <p:sp>
        <p:nvSpPr>
          <p:cNvPr id="9" name="Shape 7"/>
          <p:cNvSpPr/>
          <p:nvPr/>
        </p:nvSpPr>
        <p:spPr>
          <a:xfrm>
            <a:off x="4633987" y="2147739"/>
            <a:ext cx="4013895" cy="14288"/>
          </a:xfrm>
          <a:prstGeom prst="rect">
            <a:avLst/>
          </a:prstGeom>
          <a:solidFill>
            <a:srgbClr val="D2AC47"/>
          </a:solidFill>
          <a:ln/>
        </p:spPr>
      </p:sp>
      <p:sp>
        <p:nvSpPr>
          <p:cNvPr id="10" name="Text 8"/>
          <p:cNvSpPr/>
          <p:nvPr/>
        </p:nvSpPr>
        <p:spPr>
          <a:xfrm>
            <a:off x="4633987" y="2238301"/>
            <a:ext cx="1781621"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Protocole reproductible</a:t>
            </a:r>
            <a:endParaRPr lang="en-US" sz="1200" dirty="0"/>
          </a:p>
        </p:txBody>
      </p:sp>
      <p:sp>
        <p:nvSpPr>
          <p:cNvPr id="11" name="Text 9"/>
          <p:cNvSpPr/>
          <p:nvPr/>
        </p:nvSpPr>
        <p:spPr>
          <a:xfrm>
            <a:off x="4633987" y="2506563"/>
            <a:ext cx="4013895"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10 campagnes de mesure de 60 secondes chacune, dans des conditions environnementales contrôlées et documentées, permettant une réplication exacte par tout chercheur.</a:t>
            </a:r>
            <a:endParaRPr lang="en-US" sz="950" dirty="0"/>
          </a:p>
        </p:txBody>
      </p:sp>
      <p:sp>
        <p:nvSpPr>
          <p:cNvPr id="12" name="Text 10"/>
          <p:cNvSpPr/>
          <p:nvPr/>
        </p:nvSpPr>
        <p:spPr>
          <a:xfrm>
            <a:off x="496119" y="3318942"/>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CFCBBF"/>
                </a:solidFill>
                <a:latin typeface="Prata Light" pitchFamily="34" charset="0"/>
                <a:ea typeface="Prata Light" pitchFamily="34" charset="-122"/>
                <a:cs typeface="Prata Light" pitchFamily="34" charset="-120"/>
              </a:rPr>
              <a:t>03</a:t>
            </a:r>
            <a:endParaRPr lang="en-US" sz="950" dirty="0"/>
          </a:p>
        </p:txBody>
      </p:sp>
      <p:sp>
        <p:nvSpPr>
          <p:cNvPr id="13" name="Shape 11"/>
          <p:cNvSpPr/>
          <p:nvPr/>
        </p:nvSpPr>
        <p:spPr>
          <a:xfrm>
            <a:off x="496119" y="3503042"/>
            <a:ext cx="4013895" cy="14288"/>
          </a:xfrm>
          <a:prstGeom prst="rect">
            <a:avLst/>
          </a:prstGeom>
          <a:solidFill>
            <a:srgbClr val="D2AC47"/>
          </a:solidFill>
          <a:ln/>
        </p:spPr>
      </p:sp>
      <p:sp>
        <p:nvSpPr>
          <p:cNvPr id="14" name="Text 12"/>
          <p:cNvSpPr/>
          <p:nvPr/>
        </p:nvSpPr>
        <p:spPr>
          <a:xfrm>
            <a:off x="496119" y="3605957"/>
            <a:ext cx="2343076"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Collecte des données gestuelles</a:t>
            </a:r>
            <a:endParaRPr lang="en-US" sz="1200" dirty="0"/>
          </a:p>
        </p:txBody>
      </p:sp>
      <p:sp>
        <p:nvSpPr>
          <p:cNvPr id="15" name="Text 13"/>
          <p:cNvSpPr/>
          <p:nvPr/>
        </p:nvSpPr>
        <p:spPr>
          <a:xfrm>
            <a:off x="496119" y="3874219"/>
            <a:ext cx="401389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800 séquences de gestes capturées, annotées et utilisées pour l'entraînement et l'évaluation du module de reconnaissance gestuelle.</a:t>
            </a:r>
            <a:endParaRPr lang="en-US" sz="950" dirty="0"/>
          </a:p>
        </p:txBody>
      </p:sp>
      <p:sp>
        <p:nvSpPr>
          <p:cNvPr id="16" name="Text 14"/>
          <p:cNvSpPr/>
          <p:nvPr/>
        </p:nvSpPr>
        <p:spPr>
          <a:xfrm>
            <a:off x="4633987" y="3318942"/>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CFCBBF"/>
                </a:solidFill>
                <a:latin typeface="Prata Light" pitchFamily="34" charset="0"/>
                <a:ea typeface="Prata Light" pitchFamily="34" charset="-122"/>
                <a:cs typeface="Prata Light" pitchFamily="34" charset="-120"/>
              </a:rPr>
              <a:t>04</a:t>
            </a:r>
            <a:endParaRPr lang="en-US" sz="950" dirty="0"/>
          </a:p>
        </p:txBody>
      </p:sp>
      <p:sp>
        <p:nvSpPr>
          <p:cNvPr id="17" name="Shape 15"/>
          <p:cNvSpPr/>
          <p:nvPr/>
        </p:nvSpPr>
        <p:spPr>
          <a:xfrm>
            <a:off x="4633987" y="3503042"/>
            <a:ext cx="4013895" cy="14288"/>
          </a:xfrm>
          <a:prstGeom prst="rect">
            <a:avLst/>
          </a:prstGeom>
          <a:solidFill>
            <a:srgbClr val="D2AC47"/>
          </a:solidFill>
          <a:ln/>
        </p:spPr>
      </p:sp>
      <p:sp>
        <p:nvSpPr>
          <p:cNvPr id="18" name="Text 16"/>
          <p:cNvSpPr/>
          <p:nvPr/>
        </p:nvSpPr>
        <p:spPr>
          <a:xfrm>
            <a:off x="4633987" y="360595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Panel de testeurs</a:t>
            </a:r>
            <a:endParaRPr lang="en-US" sz="1200" dirty="0"/>
          </a:p>
        </p:txBody>
      </p:sp>
      <p:sp>
        <p:nvSpPr>
          <p:cNvPr id="19" name="Text 17"/>
          <p:cNvSpPr/>
          <p:nvPr/>
        </p:nvSpPr>
        <p:spPr>
          <a:xfrm>
            <a:off x="4633987" y="3874219"/>
            <a:ext cx="4013895"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10 testeurs ayant interagi avec le prototype dans des scénarios représentatifs, fournissant des données qualitatives et quantitatives sur l'expérience utilisateur.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67320"/>
            <a:ext cx="6485855" cy="375493"/>
          </a:xfrm>
          <a:prstGeom prst="rect">
            <a:avLst/>
          </a:prstGeom>
          <a:noFill/>
          <a:ln/>
        </p:spPr>
        <p:txBody>
          <a:bodyPr wrap="none" lIns="0" tIns="0" rIns="0" bIns="0" rtlCol="0" anchor="t"/>
          <a:lstStyle/>
          <a:p>
            <a:pPr algn="l" indent="0" marL="0">
              <a:lnSpc>
                <a:spcPct val="104000"/>
              </a:lnSpc>
              <a:buNone/>
            </a:pPr>
            <a:r>
              <a:rPr lang="en-US" sz="2350" dirty="0">
                <a:solidFill>
                  <a:srgbClr val="F2E782"/>
                </a:solidFill>
                <a:latin typeface="Prata" pitchFamily="34" charset="0"/>
                <a:ea typeface="Prata" pitchFamily="34" charset="-122"/>
                <a:cs typeface="Prata" pitchFamily="34" charset="-120"/>
              </a:rPr>
              <a:t>Résultats Positifs : Ce que Nova Accomplit</a:t>
            </a:r>
            <a:endParaRPr lang="en-US" sz="2350" dirty="0"/>
          </a:p>
        </p:txBody>
      </p:sp>
      <p:sp>
        <p:nvSpPr>
          <p:cNvPr id="3" name="Text 1"/>
          <p:cNvSpPr/>
          <p:nvPr/>
        </p:nvSpPr>
        <p:spPr>
          <a:xfrm>
            <a:off x="496119" y="1135633"/>
            <a:ext cx="4003104" cy="396553"/>
          </a:xfrm>
          <a:prstGeom prst="rect">
            <a:avLst/>
          </a:prstGeom>
          <a:noFill/>
          <a:ln/>
        </p:spPr>
        <p:txBody>
          <a:bodyPr wrap="none" lIns="0" tIns="0" rIns="0" bIns="0" rtlCol="0" anchor="t"/>
          <a:lstStyle/>
          <a:p>
            <a:pPr algn="ctr" indent="0" marL="0">
              <a:lnSpc>
                <a:spcPct val="83000"/>
              </a:lnSpc>
              <a:buNone/>
            </a:pPr>
            <a:r>
              <a:rPr lang="en-US" sz="3100" dirty="0">
                <a:solidFill>
                  <a:srgbClr val="CFCBBF"/>
                </a:solidFill>
                <a:latin typeface="Prata" pitchFamily="34" charset="0"/>
                <a:ea typeface="Prata" pitchFamily="34" charset="-122"/>
                <a:cs typeface="Prata" pitchFamily="34" charset="-120"/>
              </a:rPr>
              <a:t>2,64ms</a:t>
            </a:r>
            <a:endParaRPr lang="en-US" sz="3100" dirty="0"/>
          </a:p>
        </p:txBody>
      </p:sp>
      <p:sp>
        <p:nvSpPr>
          <p:cNvPr id="4" name="Text 2"/>
          <p:cNvSpPr/>
          <p:nvPr/>
        </p:nvSpPr>
        <p:spPr>
          <a:xfrm>
            <a:off x="1746572" y="1679525"/>
            <a:ext cx="1502122" cy="187747"/>
          </a:xfrm>
          <a:prstGeom prst="rect">
            <a:avLst/>
          </a:prstGeom>
          <a:noFill/>
          <a:ln/>
        </p:spPr>
        <p:txBody>
          <a:bodyPr wrap="none" lIns="0" tIns="0" rIns="0" bIns="0" rtlCol="0" anchor="t"/>
          <a:lstStyle/>
          <a:p>
            <a:pPr algn="ctr" indent="0" marL="0">
              <a:lnSpc>
                <a:spcPct val="104000"/>
              </a:lnSpc>
              <a:buNone/>
            </a:pPr>
            <a:r>
              <a:rPr lang="en-US" sz="1150" dirty="0">
                <a:solidFill>
                  <a:srgbClr val="CFCBBF"/>
                </a:solidFill>
                <a:latin typeface="Prata" pitchFamily="34" charset="0"/>
                <a:ea typeface="Prata" pitchFamily="34" charset="-122"/>
                <a:cs typeface="Prata" pitchFamily="34" charset="-120"/>
              </a:rPr>
              <a:t>Latence bus MQTT</a:t>
            </a:r>
            <a:endParaRPr lang="en-US" sz="1150" dirty="0"/>
          </a:p>
        </p:txBody>
      </p:sp>
      <p:sp>
        <p:nvSpPr>
          <p:cNvPr id="5" name="Text 3"/>
          <p:cNvSpPr/>
          <p:nvPr/>
        </p:nvSpPr>
        <p:spPr>
          <a:xfrm>
            <a:off x="496119" y="1937072"/>
            <a:ext cx="4003104"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CFCBBF"/>
                </a:solidFill>
                <a:latin typeface="Raleway" pitchFamily="34" charset="0"/>
                <a:ea typeface="Raleway" pitchFamily="34" charset="-122"/>
                <a:cs typeface="Raleway" pitchFamily="34" charset="-120"/>
              </a:rPr>
              <a:t>Médiane mesurée, zéro perte de paquets — la communication n'est PAS le facteur limitant du système</a:t>
            </a:r>
            <a:endParaRPr lang="en-US" sz="900" dirty="0"/>
          </a:p>
        </p:txBody>
      </p:sp>
      <p:sp>
        <p:nvSpPr>
          <p:cNvPr id="6" name="Text 4"/>
          <p:cNvSpPr/>
          <p:nvPr/>
        </p:nvSpPr>
        <p:spPr>
          <a:xfrm>
            <a:off x="4644703" y="1135633"/>
            <a:ext cx="4003179" cy="396553"/>
          </a:xfrm>
          <a:prstGeom prst="rect">
            <a:avLst/>
          </a:prstGeom>
          <a:noFill/>
          <a:ln/>
        </p:spPr>
        <p:txBody>
          <a:bodyPr wrap="none" lIns="0" tIns="0" rIns="0" bIns="0" rtlCol="0" anchor="t"/>
          <a:lstStyle/>
          <a:p>
            <a:pPr algn="ctr" indent="0" marL="0">
              <a:lnSpc>
                <a:spcPct val="83000"/>
              </a:lnSpc>
              <a:buNone/>
            </a:pPr>
            <a:r>
              <a:rPr lang="en-US" sz="3100" dirty="0">
                <a:solidFill>
                  <a:srgbClr val="CFCBBF"/>
                </a:solidFill>
                <a:latin typeface="Prata" pitchFamily="34" charset="0"/>
                <a:ea typeface="Prata" pitchFamily="34" charset="-122"/>
                <a:cs typeface="Prata" pitchFamily="34" charset="-120"/>
              </a:rPr>
              <a:t>100%</a:t>
            </a:r>
            <a:endParaRPr lang="en-US" sz="3100" dirty="0"/>
          </a:p>
        </p:txBody>
      </p:sp>
      <p:sp>
        <p:nvSpPr>
          <p:cNvPr id="7" name="Text 5"/>
          <p:cNvSpPr/>
          <p:nvPr/>
        </p:nvSpPr>
        <p:spPr>
          <a:xfrm>
            <a:off x="5673700" y="1679525"/>
            <a:ext cx="1945184" cy="187747"/>
          </a:xfrm>
          <a:prstGeom prst="rect">
            <a:avLst/>
          </a:prstGeom>
          <a:noFill/>
          <a:ln/>
        </p:spPr>
        <p:txBody>
          <a:bodyPr wrap="none" lIns="0" tIns="0" rIns="0" bIns="0" rtlCol="0" anchor="t"/>
          <a:lstStyle/>
          <a:p>
            <a:pPr algn="ctr" indent="0" marL="0">
              <a:lnSpc>
                <a:spcPct val="104000"/>
              </a:lnSpc>
              <a:buNone/>
            </a:pPr>
            <a:r>
              <a:rPr lang="en-US" sz="1150" dirty="0">
                <a:solidFill>
                  <a:srgbClr val="CFCBBF"/>
                </a:solidFill>
                <a:latin typeface="Prata" pitchFamily="34" charset="0"/>
                <a:ea typeface="Prata" pitchFamily="34" charset="-122"/>
                <a:cs typeface="Prata" pitchFamily="34" charset="-120"/>
              </a:rPr>
              <a:t>Fonctionnement hors ligne</a:t>
            </a:r>
            <a:endParaRPr lang="en-US" sz="1150" dirty="0"/>
          </a:p>
        </p:txBody>
      </p:sp>
      <p:sp>
        <p:nvSpPr>
          <p:cNvPr id="8" name="Text 6"/>
          <p:cNvSpPr/>
          <p:nvPr/>
        </p:nvSpPr>
        <p:spPr>
          <a:xfrm>
            <a:off x="4644703" y="1937072"/>
            <a:ext cx="4003179"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CFCBBF"/>
                </a:solidFill>
                <a:latin typeface="Raleway" pitchFamily="34" charset="0"/>
                <a:ea typeface="Raleway" pitchFamily="34" charset="-122"/>
                <a:cs typeface="Raleway" pitchFamily="34" charset="-120"/>
              </a:rPr>
              <a:t>La vulnérabilité principale des solutions concurrentes est entièrement éliminée</a:t>
            </a:r>
            <a:endParaRPr lang="en-US" sz="900" dirty="0"/>
          </a:p>
        </p:txBody>
      </p:sp>
      <p:sp>
        <p:nvSpPr>
          <p:cNvPr id="9" name="Text 7"/>
          <p:cNvSpPr/>
          <p:nvPr/>
        </p:nvSpPr>
        <p:spPr>
          <a:xfrm>
            <a:off x="496119" y="2608362"/>
            <a:ext cx="4003104" cy="396553"/>
          </a:xfrm>
          <a:prstGeom prst="rect">
            <a:avLst/>
          </a:prstGeom>
          <a:noFill/>
          <a:ln/>
        </p:spPr>
        <p:txBody>
          <a:bodyPr wrap="none" lIns="0" tIns="0" rIns="0" bIns="0" rtlCol="0" anchor="t"/>
          <a:lstStyle/>
          <a:p>
            <a:pPr algn="ctr" indent="0" marL="0">
              <a:lnSpc>
                <a:spcPct val="83000"/>
              </a:lnSpc>
              <a:buNone/>
            </a:pPr>
            <a:r>
              <a:rPr lang="en-US" sz="3100" dirty="0">
                <a:solidFill>
                  <a:srgbClr val="CFCBBF"/>
                </a:solidFill>
                <a:latin typeface="Prata" pitchFamily="34" charset="0"/>
                <a:ea typeface="Prata" pitchFamily="34" charset="-122"/>
                <a:cs typeface="Prata" pitchFamily="34" charset="-120"/>
              </a:rPr>
              <a:t>7h30</a:t>
            </a:r>
            <a:endParaRPr lang="en-US" sz="3100" dirty="0"/>
          </a:p>
        </p:txBody>
      </p:sp>
      <p:sp>
        <p:nvSpPr>
          <p:cNvPr id="10" name="Text 8"/>
          <p:cNvSpPr/>
          <p:nvPr/>
        </p:nvSpPr>
        <p:spPr>
          <a:xfrm>
            <a:off x="1746572" y="3152254"/>
            <a:ext cx="1502122" cy="187747"/>
          </a:xfrm>
          <a:prstGeom prst="rect">
            <a:avLst/>
          </a:prstGeom>
          <a:noFill/>
          <a:ln/>
        </p:spPr>
        <p:txBody>
          <a:bodyPr wrap="none" lIns="0" tIns="0" rIns="0" bIns="0" rtlCol="0" anchor="t"/>
          <a:lstStyle/>
          <a:p>
            <a:pPr algn="ctr" indent="0" marL="0">
              <a:lnSpc>
                <a:spcPct val="104000"/>
              </a:lnSpc>
              <a:buNone/>
            </a:pPr>
            <a:r>
              <a:rPr lang="en-US" sz="1150" dirty="0">
                <a:solidFill>
                  <a:srgbClr val="CFCBBF"/>
                </a:solidFill>
                <a:latin typeface="Prata" pitchFamily="34" charset="0"/>
                <a:ea typeface="Prata" pitchFamily="34" charset="-122"/>
                <a:cs typeface="Prata" pitchFamily="34" charset="-120"/>
              </a:rPr>
              <a:t>Autonomie mesurée</a:t>
            </a:r>
            <a:endParaRPr lang="en-US" sz="1150" dirty="0"/>
          </a:p>
        </p:txBody>
      </p:sp>
      <p:sp>
        <p:nvSpPr>
          <p:cNvPr id="11" name="Text 9"/>
          <p:cNvSpPr/>
          <p:nvPr/>
        </p:nvSpPr>
        <p:spPr>
          <a:xfrm>
            <a:off x="496119" y="3409801"/>
            <a:ext cx="4003104"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CFCBBF"/>
                </a:solidFill>
                <a:latin typeface="Raleway" pitchFamily="34" charset="0"/>
                <a:ea typeface="Raleway" pitchFamily="34" charset="-122"/>
                <a:cs typeface="Raleway" pitchFamily="34" charset="-120"/>
              </a:rPr>
              <a:t>Pour 8h visées — écart de 6% seulement, avec des leviers d'optimisation identifiés</a:t>
            </a:r>
            <a:endParaRPr lang="en-US" sz="900" dirty="0"/>
          </a:p>
        </p:txBody>
      </p:sp>
      <p:sp>
        <p:nvSpPr>
          <p:cNvPr id="12" name="Text 10"/>
          <p:cNvSpPr/>
          <p:nvPr/>
        </p:nvSpPr>
        <p:spPr>
          <a:xfrm>
            <a:off x="4644703" y="2608362"/>
            <a:ext cx="4003179" cy="396553"/>
          </a:xfrm>
          <a:prstGeom prst="rect">
            <a:avLst/>
          </a:prstGeom>
          <a:noFill/>
          <a:ln/>
        </p:spPr>
        <p:txBody>
          <a:bodyPr wrap="none" lIns="0" tIns="0" rIns="0" bIns="0" rtlCol="0" anchor="t"/>
          <a:lstStyle/>
          <a:p>
            <a:pPr algn="ctr" indent="0" marL="0">
              <a:lnSpc>
                <a:spcPct val="83000"/>
              </a:lnSpc>
              <a:buNone/>
            </a:pPr>
            <a:r>
              <a:rPr lang="en-US" sz="3100" dirty="0">
                <a:solidFill>
                  <a:srgbClr val="CFCBBF"/>
                </a:solidFill>
                <a:latin typeface="Prata" pitchFamily="34" charset="0"/>
                <a:ea typeface="Prata" pitchFamily="34" charset="-122"/>
                <a:cs typeface="Prata" pitchFamily="34" charset="-120"/>
              </a:rPr>
              <a:t>800</a:t>
            </a:r>
            <a:endParaRPr lang="en-US" sz="3100" dirty="0"/>
          </a:p>
        </p:txBody>
      </p:sp>
      <p:sp>
        <p:nvSpPr>
          <p:cNvPr id="13" name="Text 11"/>
          <p:cNvSpPr/>
          <p:nvPr/>
        </p:nvSpPr>
        <p:spPr>
          <a:xfrm>
            <a:off x="5895231" y="3152254"/>
            <a:ext cx="1502122" cy="187747"/>
          </a:xfrm>
          <a:prstGeom prst="rect">
            <a:avLst/>
          </a:prstGeom>
          <a:noFill/>
          <a:ln/>
        </p:spPr>
        <p:txBody>
          <a:bodyPr wrap="none" lIns="0" tIns="0" rIns="0" bIns="0" rtlCol="0" anchor="t"/>
          <a:lstStyle/>
          <a:p>
            <a:pPr algn="ctr" indent="0" marL="0">
              <a:lnSpc>
                <a:spcPct val="104000"/>
              </a:lnSpc>
              <a:buNone/>
            </a:pPr>
            <a:r>
              <a:rPr lang="en-US" sz="1150" dirty="0">
                <a:solidFill>
                  <a:srgbClr val="CFCBBF"/>
                </a:solidFill>
                <a:latin typeface="Prata" pitchFamily="34" charset="0"/>
                <a:ea typeface="Prata" pitchFamily="34" charset="-122"/>
                <a:cs typeface="Prata" pitchFamily="34" charset="-120"/>
              </a:rPr>
              <a:t>Séquences de gestes</a:t>
            </a:r>
            <a:endParaRPr lang="en-US" sz="1150" dirty="0"/>
          </a:p>
        </p:txBody>
      </p:sp>
      <p:sp>
        <p:nvSpPr>
          <p:cNvPr id="14" name="Text 12"/>
          <p:cNvSpPr/>
          <p:nvPr/>
        </p:nvSpPr>
        <p:spPr>
          <a:xfrm>
            <a:off x="4644703" y="3409801"/>
            <a:ext cx="4003179"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CFCBBF"/>
                </a:solidFill>
                <a:latin typeface="Raleway" pitchFamily="34" charset="0"/>
                <a:ea typeface="Raleway" pitchFamily="34" charset="-122"/>
                <a:cs typeface="Raleway" pitchFamily="34" charset="-120"/>
              </a:rPr>
              <a:t>Collectées et annotées pour l'entraînement du module de reconnaissance gestuelle</a:t>
            </a:r>
            <a:endParaRPr lang="en-US" sz="900" dirty="0"/>
          </a:p>
        </p:txBody>
      </p:sp>
      <p:sp>
        <p:nvSpPr>
          <p:cNvPr id="15" name="Text 13"/>
          <p:cNvSpPr/>
          <p:nvPr/>
        </p:nvSpPr>
        <p:spPr>
          <a:xfrm>
            <a:off x="496119" y="3919165"/>
            <a:ext cx="8151763" cy="75694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CFCBBF"/>
                </a:solidFill>
                <a:latin typeface="Raleway" pitchFamily="34" charset="0"/>
                <a:ea typeface="Raleway" pitchFamily="34" charset="-122"/>
                <a:cs typeface="Raleway" pitchFamily="34" charset="-120"/>
              </a:rPr>
              <a:t>Le bus MQTT introduit une latence médiane de </a:t>
            </a:r>
            <a:pPr algn="l" indent="0" marL="0">
              <a:lnSpc>
                <a:spcPct val="131000"/>
              </a:lnSpc>
              <a:buNone/>
            </a:pPr>
            <a:r>
              <a:rPr lang="en-US" sz="900" b="1" dirty="0">
                <a:solidFill>
                  <a:srgbClr val="CFCBBF"/>
                </a:solidFill>
                <a:latin typeface="Raleway Bold" pitchFamily="34" charset="0"/>
                <a:ea typeface="Raleway Bold" pitchFamily="34" charset="-122"/>
                <a:cs typeface="Raleway Bold" pitchFamily="34" charset="-120"/>
              </a:rPr>
              <a:t>2,64 ms</a:t>
            </a:r>
            <a:pPr algn="l" indent="0" marL="0">
              <a:lnSpc>
                <a:spcPct val="131000"/>
              </a:lnSpc>
              <a:buNone/>
            </a:pPr>
            <a:r>
              <a:rPr lang="en-US" sz="900" dirty="0">
                <a:solidFill>
                  <a:srgbClr val="CFCBBF"/>
                </a:solidFill>
                <a:latin typeface="Raleway" pitchFamily="34" charset="0"/>
                <a:ea typeface="Raleway" pitchFamily="34" charset="-122"/>
                <a:cs typeface="Raleway" pitchFamily="34" charset="-120"/>
              </a:rPr>
              <a:t> avec zéro perte de paquets sur l'ensemble des 10 campagnes de test : la communication inter-modules n'est absolument pas le facteur limitant des performances globales. Le fonctionnement </a:t>
            </a:r>
            <a:pPr algn="l" indent="0" marL="0">
              <a:lnSpc>
                <a:spcPct val="131000"/>
              </a:lnSpc>
              <a:buNone/>
            </a:pPr>
            <a:r>
              <a:rPr lang="en-US" sz="900" b="1" dirty="0">
                <a:solidFill>
                  <a:srgbClr val="CFCBBF"/>
                </a:solidFill>
                <a:latin typeface="Raleway Bold" pitchFamily="34" charset="0"/>
                <a:ea typeface="Raleway Bold" pitchFamily="34" charset="-122"/>
                <a:cs typeface="Raleway Bold" pitchFamily="34" charset="-120"/>
              </a:rPr>
              <a:t>100 % hors ligne</a:t>
            </a:r>
            <a:pPr algn="l" indent="0" marL="0">
              <a:lnSpc>
                <a:spcPct val="131000"/>
              </a:lnSpc>
              <a:buNone/>
            </a:pPr>
            <a:r>
              <a:rPr lang="en-US" sz="900" dirty="0">
                <a:solidFill>
                  <a:srgbClr val="CFCBBF"/>
                </a:solidFill>
                <a:latin typeface="Raleway" pitchFamily="34" charset="0"/>
                <a:ea typeface="Raleway" pitchFamily="34" charset="-122"/>
                <a:cs typeface="Raleway" pitchFamily="34" charset="-120"/>
              </a:rPr>
              <a:t> élimine la vulnérabilité principale des solutions concurrentes dépendantes du cloud. L'autonomie de </a:t>
            </a:r>
            <a:pPr algn="l" indent="0" marL="0">
              <a:lnSpc>
                <a:spcPct val="131000"/>
              </a:lnSpc>
              <a:buNone/>
            </a:pPr>
            <a:r>
              <a:rPr lang="en-US" sz="900" b="1" dirty="0">
                <a:solidFill>
                  <a:srgbClr val="CFCBBF"/>
                </a:solidFill>
                <a:latin typeface="Raleway Bold" pitchFamily="34" charset="0"/>
                <a:ea typeface="Raleway Bold" pitchFamily="34" charset="-122"/>
                <a:cs typeface="Raleway Bold" pitchFamily="34" charset="-120"/>
              </a:rPr>
              <a:t>7 h 30</a:t>
            </a:r>
            <a:pPr algn="l" indent="0" marL="0">
              <a:lnSpc>
                <a:spcPct val="131000"/>
              </a:lnSpc>
              <a:buNone/>
            </a:pPr>
            <a:r>
              <a:rPr lang="en-US" sz="900" dirty="0">
                <a:solidFill>
                  <a:srgbClr val="CFCBBF"/>
                </a:solidFill>
                <a:latin typeface="Raleway" pitchFamily="34" charset="0"/>
                <a:ea typeface="Raleway" pitchFamily="34" charset="-122"/>
                <a:cs typeface="Raleway" pitchFamily="34" charset="-120"/>
              </a:rPr>
              <a:t> pour 8 h visées représente un écart de seulement 6 %, comblable par des leviers d'optimisation déjà identifiés (réduction de la fréquence d'échantillonnage, mise en veille des modules inactifs).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25425"/>
            <a:ext cx="8593410" cy="381521"/>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Résultats Négatifs : Limites Assumées et Enseignements</a:t>
            </a:r>
            <a:endParaRPr lang="en-US" sz="2400" dirty="0"/>
          </a:p>
        </p:txBody>
      </p:sp>
      <p:sp>
        <p:nvSpPr>
          <p:cNvPr id="3" name="Shape 1"/>
          <p:cNvSpPr/>
          <p:nvPr/>
        </p:nvSpPr>
        <p:spPr>
          <a:xfrm>
            <a:off x="496119" y="1047304"/>
            <a:ext cx="8151763" cy="677019"/>
          </a:xfrm>
          <a:prstGeom prst="roundRect">
            <a:avLst>
              <a:gd name="adj" fmla="val 2705"/>
            </a:avLst>
          </a:prstGeom>
          <a:solidFill>
            <a:srgbClr val="4B3F02"/>
          </a:solidFill>
          <a:ln/>
        </p:spPr>
      </p:sp>
      <p:pic>
        <p:nvPicPr>
          <p:cNvPr id="4" name="Image 0" descr="preencoded.png">    </p:cNvPr>
          <p:cNvPicPr>
            <a:picLocks noChangeAspect="1"/>
          </p:cNvPicPr>
          <p:nvPr/>
        </p:nvPicPr>
        <p:blipFill>
          <a:blip r:embed="rId1"/>
          <a:stretch>
            <a:fillRect/>
          </a:stretch>
        </p:blipFill>
        <p:spPr>
          <a:xfrm>
            <a:off x="618158" y="1221656"/>
            <a:ext cx="152623" cy="122039"/>
          </a:xfrm>
          <a:prstGeom prst="rect">
            <a:avLst/>
          </a:prstGeom>
        </p:spPr>
      </p:pic>
      <p:sp>
        <p:nvSpPr>
          <p:cNvPr id="5" name="Text 2"/>
          <p:cNvSpPr/>
          <p:nvPr/>
        </p:nvSpPr>
        <p:spPr>
          <a:xfrm>
            <a:off x="892820" y="1197992"/>
            <a:ext cx="7633022"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FFFFFF"/>
                </a:solidFill>
                <a:latin typeface="Raleway" pitchFamily="34" charset="0"/>
                <a:ea typeface="Raleway" pitchFamily="34" charset="-122"/>
                <a:cs typeface="Raleway" pitchFamily="34" charset="-120"/>
              </a:rPr>
              <a:t>Ce slide est le plus important : les limites sont assumées avant que le jury ne les pointe. Un travail scientifique reconnaît ses limites sans se justifier excessivement.</a:t>
            </a:r>
            <a:endParaRPr lang="en-US" sz="95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19" y="1859533"/>
            <a:ext cx="2637086" cy="2858542"/>
          </a:xfrm>
          <a:prstGeom prst="rect">
            <a:avLst/>
          </a:prstGeom>
        </p:spPr>
      </p:pic>
      <p:sp>
        <p:nvSpPr>
          <p:cNvPr id="7" name="Text 3"/>
          <p:cNvSpPr/>
          <p:nvPr/>
        </p:nvSpPr>
        <p:spPr>
          <a:xfrm>
            <a:off x="689595" y="1995860"/>
            <a:ext cx="2307282" cy="38144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1,72 FPS — Faible, mais compatible</a:t>
            </a:r>
            <a:endParaRPr lang="en-US" sz="1200" dirty="0"/>
          </a:p>
        </p:txBody>
      </p:sp>
      <p:sp>
        <p:nvSpPr>
          <p:cNvPr id="8" name="Text 4"/>
          <p:cNvSpPr/>
          <p:nvPr/>
        </p:nvSpPr>
        <p:spPr>
          <a:xfrm>
            <a:off x="689595" y="2449413"/>
            <a:ext cx="2307282" cy="2132335"/>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Le taux de traitement vidéo est de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1,72 images par seconde</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ce qui est effectivement faible. Le CPU du Pi 4B est saturé à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94 %</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en charge maximale. Cependant, cela reste compatible avec la commande gestuelle grâce au mécanisme de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confirmation temporelle de 0,8 s</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qui lisse les décisions sur plusieurs frames. Ce n'est pas un blocage fonctionnel, c'est une contrainte mesurée et gérée.</a:t>
            </a:r>
            <a:endParaRPr lang="en-US" sz="9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53383" y="1859533"/>
            <a:ext cx="2637160" cy="2858542"/>
          </a:xfrm>
          <a:prstGeom prst="rect">
            <a:avLst/>
          </a:prstGeom>
        </p:spPr>
      </p:pic>
      <p:sp>
        <p:nvSpPr>
          <p:cNvPr id="10" name="Text 5"/>
          <p:cNvSpPr/>
          <p:nvPr/>
        </p:nvSpPr>
        <p:spPr>
          <a:xfrm>
            <a:off x="3446859" y="1995860"/>
            <a:ext cx="2307357" cy="38144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Latence E2E — Limite de validation, pas un résultat</a:t>
            </a:r>
            <a:endParaRPr lang="en-US" sz="1200" dirty="0"/>
          </a:p>
        </p:txBody>
      </p:sp>
      <p:sp>
        <p:nvSpPr>
          <p:cNvPr id="11" name="Text 6"/>
          <p:cNvSpPr/>
          <p:nvPr/>
        </p:nvSpPr>
        <p:spPr>
          <a:xfrm>
            <a:off x="3446859" y="2449413"/>
            <a:ext cx="2307357" cy="193848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La latence bout-en-bout n'a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pas pu être instrumentée</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dans le cadre de ce travail. Elle est traitée comme une limite de validation, non comme un résultat négatif. L'estimation théorique, basée sur la somme des latences mesurées par module, se situe très en deçà de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200 ms</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mais cette valeur exige une campagne de mesure dédiée pour être confirmée empiriquement.</a:t>
            </a:r>
            <a:endParaRPr lang="en-US" sz="95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10721" y="1859533"/>
            <a:ext cx="2637160" cy="2858542"/>
          </a:xfrm>
          <a:prstGeom prst="rect">
            <a:avLst/>
          </a:prstGeom>
        </p:spPr>
      </p:pic>
      <p:sp>
        <p:nvSpPr>
          <p:cNvPr id="13" name="Text 7"/>
          <p:cNvSpPr/>
          <p:nvPr/>
        </p:nvSpPr>
        <p:spPr>
          <a:xfrm>
            <a:off x="6204198" y="1995860"/>
            <a:ext cx="2307357" cy="38144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Enseignement clé — Le calcul, pas la chaleur</a:t>
            </a:r>
            <a:endParaRPr lang="en-US" sz="1200" dirty="0"/>
          </a:p>
        </p:txBody>
      </p:sp>
      <p:sp>
        <p:nvSpPr>
          <p:cNvPr id="14" name="Text 8"/>
          <p:cNvSpPr/>
          <p:nvPr/>
        </p:nvSpPr>
        <p:spPr>
          <a:xfrm>
            <a:off x="6204198" y="2449413"/>
            <a:ext cx="2307357" cy="193848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Le facteur limitant est le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calcul CPU (94 %)</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pas la température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56 °C</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seulement). Cela </a:t>
            </a:r>
            <a:pPr algn="l" indent="0" marL="0">
              <a:lnSpc>
                <a:spcPct val="132000"/>
              </a:lnSpc>
              <a:buNone/>
            </a:pPr>
            <a:r>
              <a:rPr lang="en-US" sz="950" b="1" dirty="0">
                <a:solidFill>
                  <a:srgbClr val="CFCBBF"/>
                </a:solidFill>
                <a:latin typeface="Raleway Bold" pitchFamily="34" charset="0"/>
                <a:ea typeface="Raleway Bold" pitchFamily="34" charset="-122"/>
                <a:cs typeface="Raleway Bold" pitchFamily="34" charset="-120"/>
              </a:rPr>
              <a:t>contredit l'hypothèse du throttling thermique</a:t>
            </a:r>
            <a:pPr algn="l" indent="0" marL="0">
              <a:lnSpc>
                <a:spcPct val="132000"/>
              </a:lnSpc>
              <a:buNone/>
            </a:pPr>
            <a:r>
              <a:rPr lang="en-US" sz="950" dirty="0">
                <a:solidFill>
                  <a:srgbClr val="CFCBBF"/>
                </a:solidFill>
                <a:latin typeface="Raleway" pitchFamily="34" charset="0"/>
                <a:ea typeface="Raleway" pitchFamily="34" charset="-122"/>
                <a:cs typeface="Raleway" pitchFamily="34" charset="-120"/>
              </a:rPr>
              <a:t> avancée dans la littérature pour ce type de configuration. L'optimisation doit donc cibler prioritairement l'efficacité algorithmique et non le refroidissement — un enseignement qui oriente précisément les travaux futurs.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573360"/>
            <a:ext cx="3819153" cy="387548"/>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Contributions de Nova</a:t>
            </a:r>
            <a:endParaRPr lang="en-US" sz="2400" dirty="0"/>
          </a:p>
        </p:txBody>
      </p:sp>
      <p:sp>
        <p:nvSpPr>
          <p:cNvPr id="3" name="Shape 1"/>
          <p:cNvSpPr/>
          <p:nvPr/>
        </p:nvSpPr>
        <p:spPr>
          <a:xfrm>
            <a:off x="496119" y="1208931"/>
            <a:ext cx="14288" cy="477515"/>
          </a:xfrm>
          <a:prstGeom prst="roundRect">
            <a:avLst>
              <a:gd name="adj" fmla="val 59998"/>
            </a:avLst>
          </a:prstGeom>
          <a:solidFill>
            <a:srgbClr val="EEE27D"/>
          </a:solidFill>
          <a:ln/>
        </p:spPr>
      </p:sp>
      <p:sp>
        <p:nvSpPr>
          <p:cNvPr id="4" name="Text 2"/>
          <p:cNvSpPr/>
          <p:nvPr/>
        </p:nvSpPr>
        <p:spPr>
          <a:xfrm>
            <a:off x="682154" y="1348457"/>
            <a:ext cx="8422928" cy="198462"/>
          </a:xfrm>
          <a:prstGeom prst="rect">
            <a:avLst/>
          </a:prstGeom>
          <a:noFill/>
          <a:ln/>
        </p:spPr>
        <p:txBody>
          <a:bodyPr wrap="none" lIns="0" tIns="0" rIns="0" bIns="0" rtlCol="0" anchor="t"/>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Nova n'améliore aucun modèle isolé — sa valeur réside dans l'</a:t>
            </a:r>
            <a:pPr algn="l" indent="0" marL="0">
              <a:lnSpc>
                <a:spcPct val="133000"/>
              </a:lnSpc>
              <a:buNone/>
            </a:pPr>
            <a:r>
              <a:rPr lang="en-US" sz="950" b="1" dirty="0">
                <a:solidFill>
                  <a:srgbClr val="CFCBBF"/>
                </a:solidFill>
                <a:latin typeface="Raleway Bold" pitchFamily="34" charset="0"/>
                <a:ea typeface="Raleway Bold" pitchFamily="34" charset="-122"/>
                <a:cs typeface="Raleway Bold" pitchFamily="34" charset="-120"/>
              </a:rPr>
              <a:t>INTÉGRATION</a:t>
            </a:r>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 mesurée et non seulement affirmée.</a:t>
            </a:r>
            <a:endParaRPr lang="en-US" sz="950" dirty="0"/>
          </a:p>
        </p:txBody>
      </p:sp>
      <p:sp>
        <p:nvSpPr>
          <p:cNvPr id="5" name="Shape 3"/>
          <p:cNvSpPr/>
          <p:nvPr/>
        </p:nvSpPr>
        <p:spPr>
          <a:xfrm>
            <a:off x="496119" y="1825972"/>
            <a:ext cx="4013895" cy="1310060"/>
          </a:xfrm>
          <a:prstGeom prst="roundRect">
            <a:avLst>
              <a:gd name="adj" fmla="val 1420"/>
            </a:avLst>
          </a:prstGeom>
          <a:solidFill>
            <a:srgbClr val="3A3B3C"/>
          </a:solidFill>
          <a:ln/>
        </p:spPr>
      </p:sp>
      <p:sp>
        <p:nvSpPr>
          <p:cNvPr id="6" name="Text 4"/>
          <p:cNvSpPr/>
          <p:nvPr/>
        </p:nvSpPr>
        <p:spPr>
          <a:xfrm>
            <a:off x="620092" y="1949946"/>
            <a:ext cx="2522116"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Plateforme modulaire embarquée</a:t>
            </a:r>
            <a:endParaRPr lang="en-US" sz="1200" dirty="0"/>
          </a:p>
        </p:txBody>
      </p:sp>
      <p:sp>
        <p:nvSpPr>
          <p:cNvPr id="7" name="Text 5"/>
          <p:cNvSpPr/>
          <p:nvPr/>
        </p:nvSpPr>
        <p:spPr>
          <a:xfrm>
            <a:off x="620092" y="2218209"/>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Première architecture connue réunissant modularité par greffons, fonctionnement hors ligne complet et reconfigurabilité sans recompilation sur matériel à faible coût (Pi 4B + Arduino + ESP32-CAM).</a:t>
            </a:r>
            <a:endParaRPr lang="en-US" sz="950" dirty="0"/>
          </a:p>
        </p:txBody>
      </p:sp>
      <p:sp>
        <p:nvSpPr>
          <p:cNvPr id="8" name="Shape 6"/>
          <p:cNvSpPr/>
          <p:nvPr/>
        </p:nvSpPr>
        <p:spPr>
          <a:xfrm>
            <a:off x="4633987" y="1825972"/>
            <a:ext cx="4013895" cy="1310060"/>
          </a:xfrm>
          <a:prstGeom prst="roundRect">
            <a:avLst>
              <a:gd name="adj" fmla="val 1420"/>
            </a:avLst>
          </a:prstGeom>
          <a:solidFill>
            <a:srgbClr val="3A3B3C"/>
          </a:solidFill>
          <a:ln/>
        </p:spPr>
      </p:sp>
      <p:sp>
        <p:nvSpPr>
          <p:cNvPr id="9" name="Text 7"/>
          <p:cNvSpPr/>
          <p:nvPr/>
        </p:nvSpPr>
        <p:spPr>
          <a:xfrm>
            <a:off x="4757961" y="1949946"/>
            <a:ext cx="2378571"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Sécurité garantie par délégation</a:t>
            </a:r>
            <a:endParaRPr lang="en-US" sz="1200" dirty="0"/>
          </a:p>
        </p:txBody>
      </p:sp>
      <p:sp>
        <p:nvSpPr>
          <p:cNvPr id="10" name="Text 8"/>
          <p:cNvSpPr/>
          <p:nvPr/>
        </p:nvSpPr>
        <p:spPr>
          <a:xfrm>
            <a:off x="4757961" y="2218209"/>
            <a:ext cx="376594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Délégation de la détection d'obstacles à l'Arduino, assurant une sécurité temps réel indépendante de la charge du processeur principal — une contribution architecturale originale.</a:t>
            </a:r>
            <a:endParaRPr lang="en-US" sz="950" dirty="0"/>
          </a:p>
        </p:txBody>
      </p:sp>
      <p:sp>
        <p:nvSpPr>
          <p:cNvPr id="11" name="Shape 9"/>
          <p:cNvSpPr/>
          <p:nvPr/>
        </p:nvSpPr>
        <p:spPr>
          <a:xfrm>
            <a:off x="496119" y="3260006"/>
            <a:ext cx="4013895" cy="1310060"/>
          </a:xfrm>
          <a:prstGeom prst="roundRect">
            <a:avLst>
              <a:gd name="adj" fmla="val 1420"/>
            </a:avLst>
          </a:prstGeom>
          <a:solidFill>
            <a:srgbClr val="3A3B3C"/>
          </a:solidFill>
          <a:ln/>
        </p:spPr>
      </p:sp>
      <p:sp>
        <p:nvSpPr>
          <p:cNvPr id="12" name="Text 10"/>
          <p:cNvSpPr/>
          <p:nvPr/>
        </p:nvSpPr>
        <p:spPr>
          <a:xfrm>
            <a:off x="620092" y="3383979"/>
            <a:ext cx="2291804"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Mesures sur matériel cible réel</a:t>
            </a:r>
            <a:endParaRPr lang="en-US" sz="1200" dirty="0"/>
          </a:p>
        </p:txBody>
      </p:sp>
      <p:sp>
        <p:nvSpPr>
          <p:cNvPr id="13" name="Text 11"/>
          <p:cNvSpPr/>
          <p:nvPr/>
        </p:nvSpPr>
        <p:spPr>
          <a:xfrm>
            <a:off x="620092" y="3652242"/>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Données empiriques originales collectées sur le dispositif réel : latence bus (2,64 ms), autonomie (7 h 30), FPS (1,72), saturation CPU (94 %), température (56 °C) — un corpus inédit pour la communauté.</a:t>
            </a:r>
            <a:endParaRPr lang="en-US" sz="950" dirty="0"/>
          </a:p>
        </p:txBody>
      </p:sp>
      <p:sp>
        <p:nvSpPr>
          <p:cNvPr id="14" name="Shape 12"/>
          <p:cNvSpPr/>
          <p:nvPr/>
        </p:nvSpPr>
        <p:spPr>
          <a:xfrm>
            <a:off x="4633987" y="3260006"/>
            <a:ext cx="4013895" cy="1310060"/>
          </a:xfrm>
          <a:prstGeom prst="roundRect">
            <a:avLst>
              <a:gd name="adj" fmla="val 1420"/>
            </a:avLst>
          </a:prstGeom>
          <a:solidFill>
            <a:srgbClr val="3A3B3C"/>
          </a:solidFill>
          <a:ln/>
        </p:spPr>
      </p:sp>
      <p:sp>
        <p:nvSpPr>
          <p:cNvPr id="15" name="Text 13"/>
          <p:cNvSpPr/>
          <p:nvPr/>
        </p:nvSpPr>
        <p:spPr>
          <a:xfrm>
            <a:off x="4757961" y="3383979"/>
            <a:ext cx="1781621" cy="193849"/>
          </a:xfrm>
          <a:prstGeom prst="rect">
            <a:avLst/>
          </a:prstGeom>
          <a:noFill/>
          <a:ln/>
        </p:spPr>
        <p:txBody>
          <a:bodyPr wrap="none" lIns="0" tIns="0" rIns="0" bIns="0" rtlCol="0" anchor="t"/>
          <a:lstStyle/>
          <a:p>
            <a:pPr algn="l" indent="0" marL="0">
              <a:lnSpc>
                <a:spcPct val="104000"/>
              </a:lnSpc>
              <a:buNone/>
            </a:pPr>
            <a:r>
              <a:rPr lang="en-US" sz="1200" dirty="0">
                <a:solidFill>
                  <a:srgbClr val="CFCBBF"/>
                </a:solidFill>
                <a:latin typeface="Prata" pitchFamily="34" charset="0"/>
                <a:ea typeface="Prata" pitchFamily="34" charset="-122"/>
                <a:cs typeface="Prata" pitchFamily="34" charset="-120"/>
              </a:rPr>
              <a:t>Protocole reproductible</a:t>
            </a:r>
            <a:endParaRPr lang="en-US" sz="1200" dirty="0"/>
          </a:p>
        </p:txBody>
      </p:sp>
      <p:sp>
        <p:nvSpPr>
          <p:cNvPr id="16" name="Text 14"/>
          <p:cNvSpPr/>
          <p:nvPr/>
        </p:nvSpPr>
        <p:spPr>
          <a:xfrm>
            <a:off x="4757961" y="3652242"/>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CFCBBF"/>
                </a:solidFill>
                <a:latin typeface="Raleway" pitchFamily="34" charset="0"/>
                <a:ea typeface="Raleway" pitchFamily="34" charset="-122"/>
                <a:cs typeface="Raleway" pitchFamily="34" charset="-120"/>
              </a:rPr>
              <a:t>10 campagnes de 60 s, 800 séquences gestuelles, 10 testeurs : un protocole documenté et reproductible, contribuant à la rigueur méthodologique dans l'évaluation des systèmes embarqués d'assistance.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81446"/>
            <a:ext cx="3818706" cy="381521"/>
          </a:xfrm>
          <a:prstGeom prst="rect">
            <a:avLst/>
          </a:prstGeom>
          <a:noFill/>
          <a:ln/>
        </p:spPr>
        <p:txBody>
          <a:bodyPr wrap="none" lIns="0" tIns="0" rIns="0" bIns="0" rtlCol="0" anchor="t"/>
          <a:lstStyle/>
          <a:p>
            <a:pPr algn="l" indent="0" marL="0">
              <a:lnSpc>
                <a:spcPct val="104000"/>
              </a:lnSpc>
              <a:buNone/>
            </a:pPr>
            <a:r>
              <a:rPr lang="en-US" sz="2400" dirty="0">
                <a:solidFill>
                  <a:srgbClr val="F2E782"/>
                </a:solidFill>
                <a:latin typeface="Prata" pitchFamily="34" charset="0"/>
                <a:ea typeface="Prata" pitchFamily="34" charset="-122"/>
                <a:cs typeface="Prata" pitchFamily="34" charset="-120"/>
              </a:rPr>
              <a:t>Limites et Perspectives</a:t>
            </a:r>
            <a:endParaRPr lang="en-US" sz="2400" dirty="0"/>
          </a:p>
        </p:txBody>
      </p:sp>
      <p:sp>
        <p:nvSpPr>
          <p:cNvPr id="3" name="Shape 1"/>
          <p:cNvSpPr/>
          <p:nvPr/>
        </p:nvSpPr>
        <p:spPr>
          <a:xfrm>
            <a:off x="408236" y="943198"/>
            <a:ext cx="4102745" cy="3818781"/>
          </a:xfrm>
          <a:prstGeom prst="roundRect">
            <a:avLst>
              <a:gd name="adj" fmla="val 480"/>
            </a:avLst>
          </a:prstGeom>
          <a:solidFill>
            <a:srgbClr val="EEE27D"/>
          </a:solidFill>
          <a:ln/>
        </p:spPr>
      </p:sp>
      <p:sp>
        <p:nvSpPr>
          <p:cNvPr id="4" name="Text 2"/>
          <p:cNvSpPr/>
          <p:nvPr/>
        </p:nvSpPr>
        <p:spPr>
          <a:xfrm>
            <a:off x="530275" y="1063377"/>
            <a:ext cx="1983507" cy="190723"/>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Prata" pitchFamily="34" charset="0"/>
                <a:ea typeface="Prata" pitchFamily="34" charset="-122"/>
                <a:cs typeface="Prata" pitchFamily="34" charset="-120"/>
              </a:rPr>
              <a:t>Limites reconnues</a:t>
            </a:r>
            <a:endParaRPr lang="en-US" sz="1200" dirty="0"/>
          </a:p>
        </p:txBody>
      </p:sp>
      <p:sp>
        <p:nvSpPr>
          <p:cNvPr id="5" name="Text 3"/>
          <p:cNvSpPr/>
          <p:nvPr/>
        </p:nvSpPr>
        <p:spPr>
          <a:xfrm>
            <a:off x="530275" y="1374279"/>
            <a:ext cx="3858667" cy="2258467"/>
          </a:xfrm>
          <a:prstGeom prst="rect">
            <a:avLst/>
          </a:prstGeom>
          <a:noFill/>
          <a:ln/>
        </p:spPr>
        <p:txBody>
          <a:bodyPr wrap="square" lIns="0" tIns="0" rIns="0" bIns="0" rtlCol="0" anchor="t">
            <a:normAutofit/>
          </a:bodyPr>
          <a:lstStyle/>
          <a:p>
            <a:pPr algn="l" marL="193040" indent="-193040">
              <a:lnSpc>
                <a:spcPct val="132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1,72 FPS</a:t>
            </a:r>
            <a:pPr algn="l" marL="193040" indent="-193040">
              <a:lnSpc>
                <a:spcPct val="132000"/>
              </a:lnSpc>
              <a:buSzPct val="100000"/>
              <a:buChar char="•"/>
            </a:pPr>
            <a:r>
              <a:rPr lang="en-US" sz="950" dirty="0">
                <a:solidFill>
                  <a:srgbClr val="000000"/>
                </a:solidFill>
                <a:latin typeface="Raleway" pitchFamily="34" charset="0"/>
                <a:ea typeface="Raleway" pitchFamily="34" charset="-122"/>
                <a:cs typeface="Raleway" pitchFamily="34" charset="-120"/>
              </a:rPr>
              <a:t> — Taux de traitement vidéo faible, conséquence directe de la saturation CPU à 94 % sur le Pi 4B</a:t>
            </a:r>
            <a:endParaRPr lang="en-US" sz="950" dirty="0"/>
          </a:p>
          <a:p>
            <a:pPr algn="l" marL="193040" indent="-193040">
              <a:lnSpc>
                <a:spcPct val="132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Latence E2E non instrumentée</a:t>
            </a:r>
            <a:pPr algn="l" marL="193040" indent="-193040">
              <a:lnSpc>
                <a:spcPct val="132000"/>
              </a:lnSpc>
              <a:buSzPct val="100000"/>
              <a:buChar char="•"/>
            </a:pPr>
            <a:r>
              <a:rPr lang="en-US" sz="950" dirty="0">
                <a:solidFill>
                  <a:srgbClr val="000000"/>
                </a:solidFill>
                <a:latin typeface="Raleway" pitchFamily="34" charset="0"/>
                <a:ea typeface="Raleway" pitchFamily="34" charset="-122"/>
                <a:cs typeface="Raleway" pitchFamily="34" charset="-120"/>
              </a:rPr>
              <a:t> — Estimée théoriquement en deçà de 200 ms, mais non mesurée empiriquement dans ce travail</a:t>
            </a:r>
            <a:endParaRPr lang="en-US" sz="950" dirty="0"/>
          </a:p>
          <a:p>
            <a:pPr algn="l" marL="193040" indent="-193040">
              <a:lnSpc>
                <a:spcPct val="132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10 testeurs</a:t>
            </a:r>
            <a:pPr algn="l" marL="193040" indent="-193040">
              <a:lnSpc>
                <a:spcPct val="132000"/>
              </a:lnSpc>
              <a:buSzPct val="100000"/>
              <a:buChar char="•"/>
            </a:pPr>
            <a:r>
              <a:rPr lang="en-US" sz="950" dirty="0">
                <a:solidFill>
                  <a:srgbClr val="000000"/>
                </a:solidFill>
                <a:latin typeface="Raleway" pitchFamily="34" charset="0"/>
                <a:ea typeface="Raleway" pitchFamily="34" charset="-122"/>
                <a:cs typeface="Raleway" pitchFamily="34" charset="-120"/>
              </a:rPr>
              <a:t> — Taille d'échantillon suffisante pour une étude exploratoire, mais insuffisante pour une généralisation statistique robuste</a:t>
            </a:r>
            <a:endParaRPr lang="en-US" sz="950" dirty="0"/>
          </a:p>
          <a:p>
            <a:pPr algn="l" marL="193040" indent="-193040">
              <a:lnSpc>
                <a:spcPct val="132000"/>
              </a:lnSpc>
              <a:buSzPct val="100000"/>
              <a:buChar char="•"/>
            </a:pPr>
            <a:r>
              <a:rPr lang="en-US" sz="950" b="1" dirty="0">
                <a:solidFill>
                  <a:srgbClr val="000000"/>
                </a:solidFill>
                <a:latin typeface="Raleway Bold" pitchFamily="34" charset="0"/>
                <a:ea typeface="Raleway Bold" pitchFamily="34" charset="-122"/>
                <a:cs typeface="Raleway Bold" pitchFamily="34" charset="-120"/>
              </a:rPr>
              <a:t>Aucun utilisateur malvoyant</a:t>
            </a:r>
            <a:pPr algn="l" marL="193040" indent="-193040">
              <a:lnSpc>
                <a:spcPct val="132000"/>
              </a:lnSpc>
              <a:buSzPct val="100000"/>
              <a:buChar char="•"/>
            </a:pPr>
            <a:r>
              <a:rPr lang="en-US" sz="950" dirty="0">
                <a:solidFill>
                  <a:srgbClr val="000000"/>
                </a:solidFill>
                <a:latin typeface="Raleway" pitchFamily="34" charset="0"/>
                <a:ea typeface="Raleway" pitchFamily="34" charset="-122"/>
                <a:cs typeface="Raleway" pitchFamily="34" charset="-120"/>
              </a:rPr>
              <a:t> — L'évaluation n'a pas inclus de personnes en situation réelle de déficience visuelle, par contrainte éthique et logistique</a:t>
            </a:r>
            <a:endParaRPr lang="en-US" sz="950" dirty="0"/>
          </a:p>
        </p:txBody>
      </p:sp>
      <p:sp>
        <p:nvSpPr>
          <p:cNvPr id="6" name="Text 4"/>
          <p:cNvSpPr/>
          <p:nvPr/>
        </p:nvSpPr>
        <p:spPr>
          <a:xfrm>
            <a:off x="4725665" y="1063377"/>
            <a:ext cx="2241277" cy="190723"/>
          </a:xfrm>
          <a:prstGeom prst="rect">
            <a:avLst/>
          </a:prstGeom>
          <a:noFill/>
          <a:ln/>
        </p:spPr>
        <p:txBody>
          <a:bodyPr wrap="none" lIns="0" tIns="0" rIns="0" bIns="0" rtlCol="0" anchor="t"/>
          <a:lstStyle/>
          <a:p>
            <a:pPr algn="l" indent="0" marL="0">
              <a:lnSpc>
                <a:spcPct val="104000"/>
              </a:lnSpc>
              <a:buNone/>
            </a:pPr>
            <a:r>
              <a:rPr lang="en-US" sz="1200" dirty="0">
                <a:solidFill>
                  <a:srgbClr val="F2E782"/>
                </a:solidFill>
                <a:latin typeface="Prata" pitchFamily="34" charset="0"/>
                <a:ea typeface="Prata" pitchFamily="34" charset="-122"/>
                <a:cs typeface="Prata" pitchFamily="34" charset="-120"/>
              </a:rPr>
              <a:t>Perspectives prioritaires</a:t>
            </a:r>
            <a:endParaRPr lang="en-US" sz="1200" dirty="0"/>
          </a:p>
        </p:txBody>
      </p:sp>
      <p:sp>
        <p:nvSpPr>
          <p:cNvPr id="7" name="Text 5"/>
          <p:cNvSpPr/>
          <p:nvPr/>
        </p:nvSpPr>
        <p:spPr>
          <a:xfrm>
            <a:off x="4725665" y="1374279"/>
            <a:ext cx="3926979" cy="2258467"/>
          </a:xfrm>
          <a:prstGeom prst="rect">
            <a:avLst/>
          </a:prstGeom>
          <a:noFill/>
          <a:ln/>
        </p:spPr>
        <p:txBody>
          <a:bodyPr wrap="square" lIns="0" tIns="0" rIns="0" bIns="0" rtlCol="0" anchor="t">
            <a:normAutofit/>
          </a:bodyPr>
          <a:lstStyle/>
          <a:p>
            <a:pPr algn="l" marL="193040" indent="-193040">
              <a:lnSpc>
                <a:spcPct val="132000"/>
              </a:lnSpc>
              <a:buSzPct val="100000"/>
              <a:buFont typeface="+mj-lt"/>
              <a:buAutoNum type="arabicPeriod" startAt="1"/>
            </a:pPr>
            <a:r>
              <a:rPr lang="en-US" sz="950" b="1" dirty="0">
                <a:solidFill>
                  <a:srgbClr val="CFCBBF"/>
                </a:solidFill>
                <a:latin typeface="Raleway Bold" pitchFamily="34" charset="0"/>
                <a:ea typeface="Raleway Bold" pitchFamily="34" charset="-122"/>
                <a:cs typeface="Raleway Bold" pitchFamily="34" charset="-120"/>
              </a:rPr>
              <a:t>Instrumenter la latence E2E</a:t>
            </a:r>
            <a:pPr algn="l" marL="193040" indent="-193040">
              <a:lnSpc>
                <a:spcPct val="132000"/>
              </a:lnSpc>
              <a:buSzPct val="100000"/>
              <a:buFont typeface="+mj-lt"/>
              <a:buAutoNum type="arabicPeriod" startAt="1"/>
            </a:pPr>
            <a:r>
              <a:rPr lang="en-US" sz="950" dirty="0">
                <a:solidFill>
                  <a:srgbClr val="CFCBBF"/>
                </a:solidFill>
                <a:latin typeface="Raleway" pitchFamily="34" charset="0"/>
                <a:ea typeface="Raleway" pitchFamily="34" charset="-122"/>
                <a:cs typeface="Raleway" pitchFamily="34" charset="-120"/>
              </a:rPr>
              <a:t> — Priorité absolue : mettre en place une campagne de mesure dédiée pour valider ou infirmer l'estimation théorique</a:t>
            </a:r>
            <a:endParaRPr lang="en-US" sz="950" dirty="0"/>
          </a:p>
          <a:p>
            <a:pPr algn="l" marL="193040" indent="-193040">
              <a:lnSpc>
                <a:spcPct val="132000"/>
              </a:lnSpc>
              <a:buSzPct val="100000"/>
              <a:buFont typeface="+mj-lt"/>
              <a:buAutoNum type="arabicPeriod" startAt="2"/>
            </a:pPr>
            <a:r>
              <a:rPr lang="en-US" sz="950" b="1" dirty="0">
                <a:solidFill>
                  <a:srgbClr val="CFCBBF"/>
                </a:solidFill>
                <a:latin typeface="Raleway Bold" pitchFamily="34" charset="0"/>
                <a:ea typeface="Raleway Bold" pitchFamily="34" charset="-122"/>
                <a:cs typeface="Raleway Bold" pitchFamily="34" charset="-120"/>
              </a:rPr>
              <a:t>Migrer vers Pi 5</a:t>
            </a:r>
            <a:pPr algn="l" marL="193040" indent="-193040">
              <a:lnSpc>
                <a:spcPct val="132000"/>
              </a:lnSpc>
              <a:buSzPct val="100000"/>
              <a:buFont typeface="+mj-lt"/>
              <a:buAutoNum type="arabicPeriod" startAt="2"/>
            </a:pPr>
            <a:r>
              <a:rPr lang="en-US" sz="950" dirty="0">
                <a:solidFill>
                  <a:srgbClr val="CFCBBF"/>
                </a:solidFill>
                <a:latin typeface="Raleway" pitchFamily="34" charset="0"/>
                <a:ea typeface="Raleway" pitchFamily="34" charset="-122"/>
                <a:cs typeface="Raleway" pitchFamily="34" charset="-120"/>
              </a:rPr>
              <a:t> — Bénéficier d'une puissance de calcul accrue pour augmenter le FPS et réduire la saturation CPU</a:t>
            </a:r>
            <a:endParaRPr lang="en-US" sz="950" dirty="0"/>
          </a:p>
          <a:p>
            <a:pPr algn="l" marL="193040" indent="-193040">
              <a:lnSpc>
                <a:spcPct val="132000"/>
              </a:lnSpc>
              <a:buSzPct val="100000"/>
              <a:buFont typeface="+mj-lt"/>
              <a:buAutoNum type="arabicPeriod" startAt="3"/>
            </a:pPr>
            <a:r>
              <a:rPr lang="en-US" sz="950" b="1" dirty="0">
                <a:solidFill>
                  <a:srgbClr val="CFCBBF"/>
                </a:solidFill>
                <a:latin typeface="Raleway Bold" pitchFamily="34" charset="0"/>
                <a:ea typeface="Raleway Bold" pitchFamily="34" charset="-122"/>
                <a:cs typeface="Raleway Bold" pitchFamily="34" charset="-120"/>
              </a:rPr>
              <a:t>Étude avec utilisateurs malvoyants</a:t>
            </a:r>
            <a:pPr algn="l" marL="193040" indent="-193040">
              <a:lnSpc>
                <a:spcPct val="132000"/>
              </a:lnSpc>
              <a:buSzPct val="100000"/>
              <a:buFont typeface="+mj-lt"/>
              <a:buAutoNum type="arabicPeriod" startAt="3"/>
            </a:pPr>
            <a:r>
              <a:rPr lang="en-US" sz="950" dirty="0">
                <a:solidFill>
                  <a:srgbClr val="CFCBBF"/>
                </a:solidFill>
                <a:latin typeface="Raleway" pitchFamily="34" charset="0"/>
                <a:ea typeface="Raleway" pitchFamily="34" charset="-122"/>
                <a:cs typeface="Raleway" pitchFamily="34" charset="-120"/>
              </a:rPr>
              <a:t> — Sous approbation éthique, conduire une évaluation en conditions réelles avec des personnes en situation de déficience visuelle</a:t>
            </a:r>
            <a:endParaRPr lang="en-US" sz="950" dirty="0"/>
          </a:p>
          <a:p>
            <a:pPr algn="l" marL="193040" indent="-193040">
              <a:lnSpc>
                <a:spcPct val="132000"/>
              </a:lnSpc>
              <a:buSzPct val="100000"/>
              <a:buFont typeface="+mj-lt"/>
              <a:buAutoNum type="arabicPeriod" startAt="4"/>
            </a:pPr>
            <a:r>
              <a:rPr lang="en-US" sz="950" b="1" dirty="0">
                <a:solidFill>
                  <a:srgbClr val="CFCBBF"/>
                </a:solidFill>
                <a:latin typeface="Raleway Bold" pitchFamily="34" charset="0"/>
                <a:ea typeface="Raleway Bold" pitchFamily="34" charset="-122"/>
                <a:cs typeface="Raleway Bold" pitchFamily="34" charset="-120"/>
              </a:rPr>
              <a:t>Optimisation algorithmique</a:t>
            </a:r>
            <a:pPr algn="l" marL="193040" indent="-193040">
              <a:lnSpc>
                <a:spcPct val="132000"/>
              </a:lnSpc>
              <a:buSzPct val="100000"/>
              <a:buFont typeface="+mj-lt"/>
              <a:buAutoNum type="arabicPeriod" startAt="4"/>
            </a:pPr>
            <a:r>
              <a:rPr lang="en-US" sz="950" dirty="0">
                <a:solidFill>
                  <a:srgbClr val="CFCBBF"/>
                </a:solidFill>
                <a:latin typeface="Raleway" pitchFamily="34" charset="0"/>
                <a:ea typeface="Raleway" pitchFamily="34" charset="-122"/>
                <a:cs typeface="Raleway" pitchFamily="34" charset="-120"/>
              </a:rPr>
              <a:t> — Cibler la réduction de la charge CPU (facteur limitant identifié) plutôt que le refroidissement thermique</a:t>
            </a:r>
            <a:endParaRPr lang="en-US" sz="950" dirty="0"/>
          </a:p>
        </p:txBody>
      </p:sp>
      <p:sp>
        <p:nvSpPr>
          <p:cNvPr id="8" name="Shape 6"/>
          <p:cNvSpPr/>
          <p:nvPr/>
        </p:nvSpPr>
        <p:spPr>
          <a:xfrm>
            <a:off x="4725665" y="3767956"/>
            <a:ext cx="3926979" cy="858813"/>
          </a:xfrm>
          <a:prstGeom prst="roundRect">
            <a:avLst>
              <a:gd name="adj" fmla="val 2133"/>
            </a:avLst>
          </a:prstGeom>
          <a:solidFill>
            <a:srgbClr val="71660F"/>
          </a:solidFill>
          <a:ln/>
        </p:spPr>
      </p:sp>
      <p:pic>
        <p:nvPicPr>
          <p:cNvPr id="9" name="Image 0" descr="preencoded.png">    </p:cNvPr>
          <p:cNvPicPr>
            <a:picLocks noChangeAspect="1"/>
          </p:cNvPicPr>
          <p:nvPr/>
        </p:nvPicPr>
        <p:blipFill>
          <a:blip r:embed="rId1"/>
          <a:stretch>
            <a:fillRect/>
          </a:stretch>
        </p:blipFill>
        <p:spPr>
          <a:xfrm>
            <a:off x="4847704" y="3951833"/>
            <a:ext cx="152623" cy="122039"/>
          </a:xfrm>
          <a:prstGeom prst="rect">
            <a:avLst/>
          </a:prstGeom>
        </p:spPr>
      </p:pic>
      <p:sp>
        <p:nvSpPr>
          <p:cNvPr id="10" name="Text 7"/>
          <p:cNvSpPr/>
          <p:nvPr/>
        </p:nvSpPr>
        <p:spPr>
          <a:xfrm>
            <a:off x="5122366" y="3906589"/>
            <a:ext cx="3408238" cy="581546"/>
          </a:xfrm>
          <a:prstGeom prst="rect">
            <a:avLst/>
          </a:prstGeom>
          <a:noFill/>
          <a:ln/>
        </p:spPr>
        <p:txBody>
          <a:bodyPr wrap="square" lIns="0" tIns="0" rIns="0" bIns="0" rtlCol="0" anchor="t">
            <a:normAutofit/>
          </a:bodyPr>
          <a:lstStyle/>
          <a:p>
            <a:pPr algn="l" indent="0" marL="0">
              <a:lnSpc>
                <a:spcPct val="132000"/>
              </a:lnSpc>
              <a:buNone/>
            </a:pPr>
            <a:r>
              <a:rPr lang="en-US" sz="950" b="1" dirty="0">
                <a:solidFill>
                  <a:srgbClr val="FFFFFF"/>
                </a:solidFill>
                <a:latin typeface="Raleway Bold" pitchFamily="34" charset="0"/>
                <a:ea typeface="Raleway Bold" pitchFamily="34" charset="-122"/>
                <a:cs typeface="Raleway Bold" pitchFamily="34" charset="-120"/>
              </a:rPr>
              <a:t>Conclusion :</a:t>
            </a:r>
            <a:pPr algn="l" indent="0" marL="0">
              <a:lnSpc>
                <a:spcPct val="132000"/>
              </a:lnSpc>
              <a:buNone/>
            </a:pPr>
            <a:r>
              <a:rPr lang="en-US" sz="950" dirty="0">
                <a:solidFill>
                  <a:srgbClr val="FFFFFF"/>
                </a:solidFill>
                <a:latin typeface="Raleway" pitchFamily="34" charset="0"/>
                <a:ea typeface="Raleway" pitchFamily="34" charset="-122"/>
                <a:cs typeface="Raleway" pitchFamily="34" charset="-120"/>
              </a:rPr>
              <a:t> Trois tensions sur quatre sont résolues ; la quatrième (performance calcul) est partiellement résolue — et son prix exact est mesuré. Merci.</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2026-07-02T22:25:11Z</dcterms:created>
  <dcterms:modified xsi:type="dcterms:W3CDTF">2026-07-02T22:25:11Z</dcterms:modified>
</cp:coreProperties>
</file>